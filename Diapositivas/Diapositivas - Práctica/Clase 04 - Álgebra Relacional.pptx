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7019925" cx="12171350"/>
  <p:notesSz cx="6858000" cy="9144000"/>
  <p:embeddedFontLst>
    <p:embeddedFont>
      <p:font typeface="Libre Baskerville"/>
      <p:regular r:id="rId28"/>
      <p:bold r:id="rId29"/>
      <p:italic r:id="rId30"/>
      <p:boldItalic r:id="rId31"/>
    </p:embeddedFont>
    <p:embeddedFont>
      <p:font typeface="Noto Sans Symbols"/>
      <p:regular r:id="rId32"/>
      <p:bold r:id="rId33"/>
    </p:embeddedFont>
    <p:embeddedFont>
      <p:font typeface="Rambla"/>
      <p:regular r:id="rId34"/>
      <p:bold r:id="rId35"/>
      <p:italic r:id="rId36"/>
      <p:boldItalic r:id="rId37"/>
    </p:embeddedFont>
    <p:embeddedFont>
      <p:font typeface="Century Gothic"/>
      <p:regular r:id="rId38"/>
      <p:bold r:id="rId39"/>
      <p:italic r:id="rId40"/>
      <p:boldItalic r:id="rId41"/>
    </p:embeddedFont>
    <p:embeddedFont>
      <p:font typeface="Questrial"/>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3" roundtripDataSignature="AMtx7mjJjfK47Fu+AxcMScm9x0KnjpLs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646E5D-DD90-458A-8D95-EC3F55E9EFC7}">
  <a:tblStyle styleId="{AE646E5D-DD90-458A-8D95-EC3F55E9EFC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3.xml"/><Relationship Id="rId42" Type="http://schemas.openxmlformats.org/officeDocument/2006/relationships/font" Target="fonts/Questrial-regular.fntdata"/><Relationship Id="rId41" Type="http://schemas.openxmlformats.org/officeDocument/2006/relationships/font" Target="fonts/CenturyGothic-boldItalic.fntdata"/><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LibreBaskerville-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ibreBaskerville-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ibreBaskerville-boldItalic.fntdata"/><Relationship Id="rId30" Type="http://schemas.openxmlformats.org/officeDocument/2006/relationships/font" Target="fonts/LibreBaskerville-italic.fntdata"/><Relationship Id="rId11" Type="http://schemas.openxmlformats.org/officeDocument/2006/relationships/slide" Target="slides/slide4.xml"/><Relationship Id="rId33" Type="http://schemas.openxmlformats.org/officeDocument/2006/relationships/font" Target="fonts/NotoSansSymbols-bold.fntdata"/><Relationship Id="rId10" Type="http://schemas.openxmlformats.org/officeDocument/2006/relationships/slide" Target="slides/slide3.xml"/><Relationship Id="rId32" Type="http://schemas.openxmlformats.org/officeDocument/2006/relationships/font" Target="fonts/NotoSansSymbols-regular.fntdata"/><Relationship Id="rId13" Type="http://schemas.openxmlformats.org/officeDocument/2006/relationships/slide" Target="slides/slide6.xml"/><Relationship Id="rId35" Type="http://schemas.openxmlformats.org/officeDocument/2006/relationships/font" Target="fonts/Rambla-bold.fntdata"/><Relationship Id="rId12" Type="http://schemas.openxmlformats.org/officeDocument/2006/relationships/slide" Target="slides/slide5.xml"/><Relationship Id="rId34" Type="http://schemas.openxmlformats.org/officeDocument/2006/relationships/font" Target="fonts/Rambla-regular.fntdata"/><Relationship Id="rId15" Type="http://schemas.openxmlformats.org/officeDocument/2006/relationships/slide" Target="slides/slide8.xml"/><Relationship Id="rId37" Type="http://schemas.openxmlformats.org/officeDocument/2006/relationships/font" Target="fonts/Rambla-boldItalic.fntdata"/><Relationship Id="rId14" Type="http://schemas.openxmlformats.org/officeDocument/2006/relationships/slide" Target="slides/slide7.xml"/><Relationship Id="rId36" Type="http://schemas.openxmlformats.org/officeDocument/2006/relationships/font" Target="fonts/Rambla-italic.fntdata"/><Relationship Id="rId17" Type="http://schemas.openxmlformats.org/officeDocument/2006/relationships/slide" Target="slides/slide10.xml"/><Relationship Id="rId39" Type="http://schemas.openxmlformats.org/officeDocument/2006/relationships/font" Target="fonts/CenturyGothic-bold.fntdata"/><Relationship Id="rId16" Type="http://schemas.openxmlformats.org/officeDocument/2006/relationships/slide" Target="slides/slide9.xml"/><Relationship Id="rId38" Type="http://schemas.openxmlformats.org/officeDocument/2006/relationships/font" Target="fonts/CenturyGothic-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278312" y="10155237"/>
            <a:ext cx="3260725" cy="514350"/>
          </a:xfrm>
          <a:prstGeom prst="rect">
            <a:avLst/>
          </a:prstGeom>
          <a:noFill/>
          <a:ln>
            <a:noFill/>
          </a:ln>
        </p:spPr>
        <p:txBody>
          <a:bodyPr anchorCtr="0" anchor="b" bIns="0" lIns="0" spcFirstLastPara="1" rIns="0" wrap="square" tIns="0">
            <a:noAutofit/>
          </a:bodyPr>
          <a:lstStyle/>
          <a:p>
            <a:pPr indent="0" lvl="0" marL="0" marR="0" rtl="0" algn="l">
              <a:lnSpc>
                <a:spcPct val="93000"/>
              </a:lnSpc>
              <a:spcBef>
                <a:spcPts val="0"/>
              </a:spcBef>
              <a:spcAft>
                <a:spcPts val="0"/>
              </a:spcAft>
              <a:buClr>
                <a:srgbClr val="000000"/>
              </a:buClr>
              <a:buSzPts val="2800"/>
              <a:buFont typeface="Arial"/>
              <a:buNone/>
            </a:pPr>
            <a:fld id="{00000000-1234-1234-1234-123412341234}" type="slidenum">
              <a:rPr b="0" i="0" lang="en-US" sz="2800" u="none" cap="none" strike="noStrike">
                <a:solidFill>
                  <a:srgbClr val="FFFFFF"/>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 name="Google Shape;4;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5" name="Google Shape;5;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6" name="Google Shape;6;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7" name="Google Shape;7;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8" name="Google Shape;8;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9" name="Google Shape;9;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0" name="Google Shape;10;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1" name="Google Shape;11;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2" name="Google Shape;12;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3" name="Google Shape;13;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4" name="Google Shape;14;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5" name="Google Shape;15;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6" name="Google Shape;16;n"/>
          <p:cNvSpPr/>
          <p:nvPr>
            <p:ph idx="2" type="sldImg"/>
          </p:nvPr>
        </p:nvSpPr>
        <p:spPr>
          <a:xfrm>
            <a:off x="306387" y="812800"/>
            <a:ext cx="6924675" cy="398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n"/>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n"/>
          <p:cNvSpPr/>
          <p:nvPr/>
        </p:nvSpPr>
        <p:spPr>
          <a:xfrm>
            <a:off x="0" y="0"/>
            <a:ext cx="3279775" cy="5334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9" name="Google Shape;19;n"/>
          <p:cNvSpPr/>
          <p:nvPr/>
        </p:nvSpPr>
        <p:spPr>
          <a:xfrm>
            <a:off x="4278312" y="0"/>
            <a:ext cx="3279775" cy="5334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0" name="Google Shape;20;n"/>
          <p:cNvSpPr/>
          <p:nvPr/>
        </p:nvSpPr>
        <p:spPr>
          <a:xfrm>
            <a:off x="0" y="10156825"/>
            <a:ext cx="3279775" cy="5334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1" name="Google Shape;21;n"/>
          <p:cNvSpPr txBox="1"/>
          <p:nvPr>
            <p:ph idx="3" type="sldNum"/>
          </p:nvPr>
        </p:nvSpPr>
        <p:spPr>
          <a:xfrm>
            <a:off x="4278312" y="10155237"/>
            <a:ext cx="3260725" cy="51435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5" name="Google Shape;45;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6" name="Google Shape;46;p1: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47" name="Google Shape;47;p1: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48" name="Google Shape;48;p1: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3" name="Google Shape;53;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4" name="Google Shape;54;p2: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55" name="Google Shape;55;p2: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56" name="Google Shape;56;p2: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2" name="Google Shape;62;p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3" name="Google Shape;63;p3: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64" name="Google Shape;64;p3: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65" name="Google Shape;65;p3:notes"/>
          <p:cNvSpPr/>
          <p:nvPr/>
        </p:nvSpPr>
        <p:spPr>
          <a:xfrm>
            <a:off x="755650" y="5078412"/>
            <a:ext cx="6038850" cy="480218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66" name="Google Shape;66;p3: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Otros ejemplos</a:t>
            </a:r>
            <a:endParaRPr/>
          </a:p>
          <a:p>
            <a:pPr indent="-304800" lvl="0" marL="457200" rtl="0" algn="l">
              <a:lnSpc>
                <a:spcPct val="119000"/>
              </a:lnSpc>
              <a:spcBef>
                <a:spcPts val="0"/>
              </a:spcBef>
              <a:spcAft>
                <a:spcPts val="0"/>
              </a:spcAft>
              <a:buClr>
                <a:schemeClr val="dk1"/>
              </a:buClr>
              <a:buSzPts val="1200"/>
              <a:buChar char="●"/>
            </a:pPr>
            <a:r>
              <a:rPr b="1" lang="en-US" sz="1200">
                <a:solidFill>
                  <a:schemeClr val="dk1"/>
                </a:solidFill>
              </a:rPr>
              <a:t>σ </a:t>
            </a:r>
            <a:r>
              <a:rPr b="1" baseline="-25000" lang="en-US" sz="1200">
                <a:solidFill>
                  <a:schemeClr val="dk1"/>
                </a:solidFill>
              </a:rPr>
              <a:t>nombre=‘Carlos’ v apellido = ‘Lopez’</a:t>
            </a:r>
            <a:r>
              <a:rPr b="1" lang="en-US" sz="1200">
                <a:solidFill>
                  <a:schemeClr val="dk1"/>
                </a:solidFill>
              </a:rPr>
              <a:t> (persona)</a:t>
            </a:r>
            <a:endParaRPr b="1" sz="1200">
              <a:solidFill>
                <a:schemeClr val="dk1"/>
              </a:solidFill>
            </a:endParaRPr>
          </a:p>
          <a:p>
            <a:pPr indent="-304800" lvl="0" marL="457200" rtl="0" algn="l">
              <a:lnSpc>
                <a:spcPct val="119000"/>
              </a:lnSpc>
              <a:spcBef>
                <a:spcPts val="0"/>
              </a:spcBef>
              <a:spcAft>
                <a:spcPts val="0"/>
              </a:spcAft>
              <a:buClr>
                <a:schemeClr val="dk1"/>
              </a:buClr>
              <a:buSzPts val="1200"/>
              <a:buChar char="●"/>
            </a:pPr>
            <a:r>
              <a:rPr b="1" lang="en-US" sz="1200">
                <a:solidFill>
                  <a:schemeClr val="dk1"/>
                </a:solidFill>
              </a:rPr>
              <a:t>σ </a:t>
            </a:r>
            <a:r>
              <a:rPr b="1" baseline="-25000" lang="en-US" sz="1200">
                <a:solidFill>
                  <a:schemeClr val="dk1"/>
                </a:solidFill>
              </a:rPr>
              <a:t>nombre=‘Carlos’ ^ apellido = ‘Bilardo’</a:t>
            </a:r>
            <a:r>
              <a:rPr b="1" lang="en-US" sz="1200">
                <a:solidFill>
                  <a:schemeClr val="dk1"/>
                </a:solidFill>
              </a:rPr>
              <a:t> (persona)</a:t>
            </a:r>
            <a:endParaRPr b="1"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7" name="Google Shape;77;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8" name="Google Shape;78;p4: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79" name="Google Shape;79;p4: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80" name="Google Shape;80;p4: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1" name="Google Shape;91;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2" name="Google Shape;92;p5: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93" name="Google Shape;93;p5: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94" name="Google Shape;94;p5: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7" name="Google Shape;107;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8" name="Google Shape;108;p6: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09" name="Google Shape;109;p6: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10" name="Google Shape;110;p6:notes"/>
          <p:cNvSpPr/>
          <p:nvPr/>
        </p:nvSpPr>
        <p:spPr>
          <a:xfrm>
            <a:off x="755650" y="5078412"/>
            <a:ext cx="6038850" cy="480218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11" name="Google Shape;111;p6: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4" name="Google Shape;124;p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5" name="Google Shape;125;p9: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26" name="Google Shape;126;p9: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27" name="Google Shape;127;p9: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0" name="Google Shape;140;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1" name="Google Shape;141;p7: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42" name="Google Shape;142;p7: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43" name="Google Shape;143;p7: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6" name="Google Shape;156;p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7" name="Google Shape;157;p8: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58" name="Google Shape;158;p8: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59" name="Google Shape;159;p8: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solidFill>
                  <a:srgbClr val="FF0000"/>
                </a:solidFill>
              </a:rPr>
              <a:t>IMPORTANTE: recalcar que antes de hacer producto natural verifiquen que solo se llamen igual los campos por los que deseen cruzar</a:t>
            </a:r>
            <a:endParaRPr>
              <a:solidFill>
                <a:srgbClr val="FF0000"/>
              </a:solidFill>
            </a:endParaRPr>
          </a:p>
          <a:p>
            <a:pPr indent="0" lvl="0" marL="0" rtl="0" algn="l">
              <a:lnSpc>
                <a:spcPct val="93000"/>
              </a:lnSpc>
              <a:spcBef>
                <a:spcPts val="0"/>
              </a:spcBef>
              <a:spcAft>
                <a:spcPts val="0"/>
              </a:spcAft>
              <a:buSzPts val="2800"/>
              <a:buNone/>
            </a:pPr>
            <a:r>
              <a:t/>
            </a:r>
            <a:endParaRPr sz="1200">
              <a:solidFill>
                <a:srgbClr val="FF0000"/>
              </a:solidFill>
            </a:endParaRPr>
          </a:p>
          <a:p>
            <a:pPr indent="0" lvl="0" marL="0" rtl="0" algn="l">
              <a:lnSpc>
                <a:spcPct val="93000"/>
              </a:lnSpc>
              <a:spcBef>
                <a:spcPts val="0"/>
              </a:spcBef>
              <a:spcAft>
                <a:spcPts val="0"/>
              </a:spcAft>
              <a:buSzPts val="2800"/>
              <a:buNone/>
            </a:pPr>
            <a:r>
              <a:rPr lang="en-US" sz="1200">
                <a:solidFill>
                  <a:schemeClr val="dk1"/>
                </a:solidFill>
              </a:rPr>
              <a:t>Qué pasa si no hay atributos en común entre las dos tablas? Imaginar el caso donde la tabla persona tiene un atributo “codLoc” mientras que la tabla localidad tiene un atributo “codigo” …</a:t>
            </a:r>
            <a:endParaRPr sz="1200">
              <a:solidFill>
                <a:schemeClr val="dk1"/>
              </a:solidFill>
            </a:endParaRPr>
          </a:p>
          <a:p>
            <a:pPr indent="0" lvl="0" marL="0" rtl="0" algn="l">
              <a:lnSpc>
                <a:spcPct val="93000"/>
              </a:lnSpc>
              <a:spcBef>
                <a:spcPts val="0"/>
              </a:spcBef>
              <a:spcAft>
                <a:spcPts val="0"/>
              </a:spcAft>
              <a:buSzPts val="2800"/>
              <a:buNone/>
            </a:pPr>
            <a:r>
              <a:t/>
            </a:r>
            <a:endParaRPr sz="1200">
              <a:solidFill>
                <a:schemeClr val="dk1"/>
              </a:solidFill>
            </a:endParaRPr>
          </a:p>
          <a:p>
            <a:pPr indent="0" lvl="0" marL="0" rtl="0" algn="l">
              <a:lnSpc>
                <a:spcPct val="93000"/>
              </a:lnSpc>
              <a:spcBef>
                <a:spcPts val="0"/>
              </a:spcBef>
              <a:spcAft>
                <a:spcPts val="0"/>
              </a:spcAft>
              <a:buClr>
                <a:schemeClr val="dk1"/>
              </a:buClr>
              <a:buSzPts val="2800"/>
              <a:buFont typeface="Arial"/>
              <a:buNone/>
            </a:pPr>
            <a:r>
              <a:rPr lang="en-US" sz="1200">
                <a:solidFill>
                  <a:schemeClr val="dk1"/>
                </a:solidFill>
              </a:rPr>
              <a:t>Qué pasa si hay más de un atributo en común entre dos tablas? En el ejemplo dado, suponer que se tienen los atributos codLoc y nombre como atributos en común de las dos tablas…</a:t>
            </a:r>
            <a:endParaRPr sz="1200">
              <a:solidFill>
                <a:schemeClr val="dk1"/>
              </a:solidFill>
            </a:endParaRPr>
          </a:p>
          <a:p>
            <a:pPr indent="0" lvl="0" marL="0" rtl="0" algn="l">
              <a:lnSpc>
                <a:spcPct val="100000"/>
              </a:lnSpc>
              <a:spcBef>
                <a:spcPts val="0"/>
              </a:spcBef>
              <a:spcAft>
                <a:spcPts val="0"/>
              </a:spcAft>
              <a:buSzPts val="1400"/>
              <a:buNone/>
            </a:pPr>
            <a:r>
              <a:t/>
            </a:r>
            <a:endParaRPr>
              <a:solidFill>
                <a:srgbClr val="FF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3" name="Google Shape;173;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4" name="Google Shape;174;p11: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75" name="Google Shape;175;p11: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76" name="Google Shape;176;p11: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Ejemplo Renombre:</a:t>
            </a:r>
            <a:endParaRPr sz="1200"/>
          </a:p>
          <a:p>
            <a:pPr indent="0" lvl="0" marL="0" rtl="0" algn="l">
              <a:lnSpc>
                <a:spcPct val="100000"/>
              </a:lnSpc>
              <a:spcBef>
                <a:spcPts val="0"/>
              </a:spcBef>
              <a:spcAft>
                <a:spcPts val="0"/>
              </a:spcAft>
              <a:buSzPts val="1400"/>
              <a:buNone/>
            </a:pPr>
            <a:r>
              <a:rPr lang="en-US" sz="1200"/>
              <a:t>Persona = (</a:t>
            </a:r>
            <a:r>
              <a:rPr lang="en-US" sz="1200" u="sng"/>
              <a:t>dni</a:t>
            </a:r>
            <a:r>
              <a:rPr lang="en-US" sz="1200"/>
              <a:t>, nombre, apellido, codL(fk))</a:t>
            </a:r>
            <a:endParaRPr sz="1200"/>
          </a:p>
          <a:p>
            <a:pPr indent="0" lvl="0" marL="0" rtl="0" algn="l">
              <a:lnSpc>
                <a:spcPct val="100000"/>
              </a:lnSpc>
              <a:spcBef>
                <a:spcPts val="0"/>
              </a:spcBef>
              <a:spcAft>
                <a:spcPts val="0"/>
              </a:spcAft>
              <a:buSzPts val="1400"/>
              <a:buNone/>
            </a:pPr>
            <a:r>
              <a:rPr lang="en-US" sz="1200"/>
              <a:t>Localidad = (</a:t>
            </a:r>
            <a:r>
              <a:rPr lang="en-US" sz="1200" u="sng"/>
              <a:t>codL</a:t>
            </a:r>
            <a:r>
              <a:rPr lang="en-US" sz="1200"/>
              <a:t>, nombreL)</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Obtener todas las personas que viven en la misma localidad que la persona con DNI 40000000</a:t>
            </a:r>
            <a:endParaRPr sz="1200"/>
          </a:p>
          <a:p>
            <a:pPr indent="0" lvl="0" marL="0" rtl="0" algn="l">
              <a:lnSpc>
                <a:spcPct val="100000"/>
              </a:lnSpc>
              <a:spcBef>
                <a:spcPts val="0"/>
              </a:spcBef>
              <a:spcAft>
                <a:spcPts val="0"/>
              </a:spcAft>
              <a:buSzPts val="1400"/>
              <a:buNone/>
            </a:pPr>
            <a:r>
              <a:rPr lang="en-US" sz="1200">
                <a:solidFill>
                  <a:schemeClr val="dk1"/>
                </a:solidFill>
              </a:rPr>
              <a:t>(σPersona.codL = P2.codL  </a:t>
            </a:r>
            <a:r>
              <a:rPr lang="en-US" sz="1200"/>
              <a:t>(Persona x (</a:t>
            </a:r>
            <a:r>
              <a:rPr lang="en-US" sz="1200">
                <a:solidFill>
                  <a:schemeClr val="dk1"/>
                </a:solidFill>
              </a:rPr>
              <a:t>σ P2.dni = 40000000 (ρ P2 (Persona)))))</a:t>
            </a:r>
            <a:endParaRPr sz="1200">
              <a:solidFill>
                <a:schemeClr val="dk1"/>
              </a:solidFill>
            </a:endParaRPr>
          </a:p>
          <a:p>
            <a:pPr indent="0" lvl="0" marL="0" rtl="0" algn="l">
              <a:lnSpc>
                <a:spcPct val="100000"/>
              </a:lnSpc>
              <a:spcBef>
                <a:spcPts val="0"/>
              </a:spcBef>
              <a:spcAft>
                <a:spcPts val="0"/>
              </a:spcAft>
              <a:buSzPts val="1400"/>
              <a:buNone/>
            </a:pPr>
            <a:r>
              <a:t/>
            </a:r>
            <a:endParaRPr sz="1200">
              <a:solidFill>
                <a:schemeClr val="dk1"/>
              </a:solidFill>
            </a:endParaRPr>
          </a:p>
          <a:p>
            <a:pPr indent="0" lvl="0" marL="0" rtl="0" algn="l">
              <a:lnSpc>
                <a:spcPct val="100000"/>
              </a:lnSpc>
              <a:spcBef>
                <a:spcPts val="0"/>
              </a:spcBef>
              <a:spcAft>
                <a:spcPts val="0"/>
              </a:spcAft>
              <a:buSzPts val="1400"/>
              <a:buNone/>
            </a:pPr>
            <a:r>
              <a:rPr lang="en-US" sz="1200">
                <a:solidFill>
                  <a:schemeClr val="dk1"/>
                </a:solidFill>
              </a:rPr>
              <a:t>Obtener todas las personas con nombre Juan que viven en La Plata.</a:t>
            </a:r>
            <a:endParaRPr sz="1200">
              <a:solidFill>
                <a:schemeClr val="dk1"/>
              </a:solidFill>
            </a:endParaRPr>
          </a:p>
          <a:p>
            <a:pPr indent="0" lvl="0" marL="0" rtl="0" algn="l">
              <a:lnSpc>
                <a:spcPct val="100000"/>
              </a:lnSpc>
              <a:spcBef>
                <a:spcPts val="0"/>
              </a:spcBef>
              <a:spcAft>
                <a:spcPts val="0"/>
              </a:spcAft>
              <a:buSzPts val="1400"/>
              <a:buNone/>
            </a:pPr>
            <a:r>
              <a:rPr lang="en-US" sz="1200">
                <a:solidFill>
                  <a:schemeClr val="dk1"/>
                </a:solidFill>
              </a:rPr>
              <a:t>Juanes &lt;= σ nombre = ‘Juan’ (Persona)</a:t>
            </a:r>
            <a:endParaRPr sz="1200">
              <a:solidFill>
                <a:schemeClr val="dk1"/>
              </a:solidFill>
            </a:endParaRPr>
          </a:p>
          <a:p>
            <a:pPr indent="0" lvl="0" marL="0" rtl="0" algn="l">
              <a:lnSpc>
                <a:spcPct val="100000"/>
              </a:lnSpc>
              <a:spcBef>
                <a:spcPts val="0"/>
              </a:spcBef>
              <a:spcAft>
                <a:spcPts val="0"/>
              </a:spcAft>
              <a:buSzPts val="1400"/>
              <a:buNone/>
            </a:pPr>
            <a:r>
              <a:rPr lang="en-US" sz="1200">
                <a:solidFill>
                  <a:schemeClr val="dk1"/>
                </a:solidFill>
              </a:rPr>
              <a:t>σ nombreL = ‘La Plata’ (Juanes |x| Localidad)</a:t>
            </a:r>
            <a:endParaRPr sz="1200">
              <a:solidFill>
                <a:schemeClr val="dk1"/>
              </a:solidFill>
            </a:endParaRPr>
          </a:p>
          <a:p>
            <a:pPr indent="0" lvl="0" marL="0" rtl="0" algn="l">
              <a:lnSpc>
                <a:spcPct val="100000"/>
              </a:lnSpc>
              <a:spcBef>
                <a:spcPts val="0"/>
              </a:spcBef>
              <a:spcAft>
                <a:spcPts val="0"/>
              </a:spcAft>
              <a:buSzPts val="1400"/>
              <a:buNone/>
            </a:pPr>
            <a:r>
              <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8" name="Google Shape;188;p10: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9" name="Google Shape;189;p10: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190" name="Google Shape;190;p10: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91" name="Google Shape;191;p10: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6" name="Google Shape;206;p1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7" name="Google Shape;207;p12: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08" name="Google Shape;208;p12: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09" name="Google Shape;209;p12: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5e887a3875_0_0: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5" name="Google Shape;215;g15e887a3875_0_0: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6" name="Google Shape;216;g15e887a3875_0_0: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17" name="Google Shape;217;g15e887a3875_0_0: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18" name="Google Shape;218;g15e887a3875_0_0: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8" name="Google Shape;228;p1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9" name="Google Shape;229;p14: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30" name="Google Shape;230;p14: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31" name="Google Shape;231;p14: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5e887a3875_0_11: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1" name="Google Shape;241;g15e887a3875_0_11: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2" name="Google Shape;242;g15e887a3875_0_11: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43" name="Google Shape;243;g15e887a3875_0_11: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44" name="Google Shape;244;g15e887a3875_0_11: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3" name="Google Shape;253;p1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15: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55" name="Google Shape;255;p15: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56" name="Google Shape;256;p15: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6" name="Google Shape;266;p17: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7" name="Google Shape;267;p17: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68" name="Google Shape;268;p17: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69" name="Google Shape;269;p17: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400"/>
              <a:t>Otra alternativa:</a:t>
            </a:r>
            <a:endParaRPr sz="1400"/>
          </a:p>
          <a:p>
            <a:pPr indent="0" lvl="0" marL="0" rtl="0" algn="l">
              <a:lnSpc>
                <a:spcPct val="100000"/>
              </a:lnSpc>
              <a:spcBef>
                <a:spcPts val="0"/>
              </a:spcBef>
              <a:spcAft>
                <a:spcPts val="0"/>
              </a:spcAft>
              <a:buSzPts val="1400"/>
              <a:buNone/>
            </a:pPr>
            <a:r>
              <a:rPr lang="en-US" sz="1200">
                <a:latin typeface="Calibri"/>
                <a:ea typeface="Calibri"/>
                <a:cs typeface="Calibri"/>
                <a:sym typeface="Calibri"/>
              </a:rPr>
              <a:t>FacturasPerez &lt;= Factura |x| </a:t>
            </a:r>
            <a:r>
              <a:rPr lang="en-US" sz="1200">
                <a:solidFill>
                  <a:schemeClr val="dk1"/>
                </a:solidFill>
                <a:latin typeface="Calibri"/>
                <a:ea typeface="Calibri"/>
                <a:cs typeface="Calibri"/>
                <a:sym typeface="Calibri"/>
              </a:rPr>
              <a:t>π </a:t>
            </a:r>
            <a:r>
              <a:rPr baseline="-25000" lang="en-US" sz="1200">
                <a:solidFill>
                  <a:schemeClr val="dk1"/>
                </a:solidFill>
                <a:latin typeface="Calibri"/>
                <a:ea typeface="Calibri"/>
                <a:cs typeface="Calibri"/>
                <a:sym typeface="Calibri"/>
              </a:rPr>
              <a:t>idCliente </a:t>
            </a:r>
            <a:r>
              <a:rPr lang="en-US" sz="1200">
                <a:solidFill>
                  <a:schemeClr val="dk1"/>
                </a:solidFill>
                <a:latin typeface="Calibri"/>
                <a:ea typeface="Calibri"/>
                <a:cs typeface="Calibri"/>
                <a:sym typeface="Calibri"/>
              </a:rPr>
              <a:t>(σ</a:t>
            </a:r>
            <a:r>
              <a:rPr baseline="-25000" lang="en-US" sz="1200">
                <a:solidFill>
                  <a:schemeClr val="dk1"/>
                </a:solidFill>
                <a:latin typeface="Calibri"/>
                <a:ea typeface="Calibri"/>
                <a:cs typeface="Calibri"/>
                <a:sym typeface="Calibri"/>
              </a:rPr>
              <a:t>(nombre=’Ramon Perez’)</a:t>
            </a:r>
            <a:r>
              <a:rPr lang="en-US" sz="1200">
                <a:solidFill>
                  <a:schemeClr val="dk1"/>
                </a:solidFill>
                <a:latin typeface="Calibri"/>
                <a:ea typeface="Calibri"/>
                <a:cs typeface="Calibri"/>
                <a:sym typeface="Calibri"/>
              </a:rPr>
              <a:t>(Cliente))</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RenglonesPerez &lt;= Renglones |x| π </a:t>
            </a:r>
            <a:r>
              <a:rPr baseline="-25000" lang="en-US" sz="1200">
                <a:solidFill>
                  <a:schemeClr val="dk1"/>
                </a:solidFill>
                <a:latin typeface="Calibri"/>
                <a:ea typeface="Calibri"/>
                <a:cs typeface="Calibri"/>
                <a:sym typeface="Calibri"/>
              </a:rPr>
              <a:t>idFactura</a:t>
            </a:r>
            <a:r>
              <a:rPr lang="en-US" sz="1200">
                <a:solidFill>
                  <a:schemeClr val="dk1"/>
                </a:solidFill>
                <a:latin typeface="Calibri"/>
                <a:ea typeface="Calibri"/>
                <a:cs typeface="Calibri"/>
                <a:sym typeface="Calibri"/>
              </a:rPr>
              <a:t>(FacturasPerez)</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Renglones &lt;= Renglones - RenglonesPerez</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latin typeface="Calibri"/>
                <a:ea typeface="Calibri"/>
                <a:cs typeface="Calibri"/>
                <a:sym typeface="Calibri"/>
              </a:rPr>
              <a:t>Facturas &lt;= Facturas - FacturasPerez</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rPr lang="en-US" sz="1400"/>
              <a:t>Que pasaria si se tuviese el stock del producto?? Deberían por cada producto en los renglones sumar la cantidad al stock antes de eliminar</a:t>
            </a:r>
            <a:endParaRPr sz="1400"/>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9e2b53c463_0_0: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79" name="Google Shape;279;g9e2b53c463_0_0: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0" name="Google Shape;280;g9e2b53c463_0_0: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81" name="Google Shape;281;g9e2b53c463_0_0: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82" name="Google Shape;282;g9e2b53c463_0_0: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44b94766a_0_0:notes"/>
          <p:cNvSpPr txBox="1"/>
          <p:nvPr/>
        </p:nvSpPr>
        <p:spPr>
          <a:xfrm>
            <a:off x="4278312" y="10156825"/>
            <a:ext cx="3271800" cy="525600"/>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2" name="Google Shape;292;g3844b94766a_0_0: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3" name="Google Shape;293;g3844b94766a_0_0:notes"/>
          <p:cNvSpPr/>
          <p:nvPr>
            <p:ph idx="2" type="sldImg"/>
          </p:nvPr>
        </p:nvSpPr>
        <p:spPr>
          <a:xfrm>
            <a:off x="304800" y="812800"/>
            <a:ext cx="6948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294" name="Google Shape;294;g3844b94766a_0_0:notes"/>
          <p:cNvSpPr/>
          <p:nvPr/>
        </p:nvSpPr>
        <p:spPr>
          <a:xfrm>
            <a:off x="755650" y="5078412"/>
            <a:ext cx="6048300" cy="48117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95" name="Google Shape;295;g3844b94766a_0_0:notes"/>
          <p:cNvSpPr txBox="1"/>
          <p:nvPr>
            <p:ph idx="1" type="body"/>
          </p:nvPr>
        </p:nvSpPr>
        <p:spPr>
          <a:xfrm>
            <a:off x="755650" y="5078412"/>
            <a:ext cx="6027600" cy="4791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txBox="1"/>
          <p:nvPr/>
        </p:nvSpPr>
        <p:spPr>
          <a:xfrm>
            <a:off x="4278312" y="10156825"/>
            <a:ext cx="3271837" cy="525462"/>
          </a:xfrm>
          <a:prstGeom prst="rect">
            <a:avLst/>
          </a:prstGeom>
          <a:noFill/>
          <a:ln>
            <a:noFill/>
          </a:ln>
        </p:spPr>
        <p:txBody>
          <a:bodyPr anchorCtr="0" anchor="b" bIns="0" lIns="0" spcFirstLastPara="1" rIns="0" wrap="square" tIns="0">
            <a:noAutofit/>
          </a:bodyPr>
          <a:lstStyle/>
          <a:p>
            <a:pPr indent="-198437" lvl="0" marL="21590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3" name="Google Shape;303;p1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4" name="Google Shape;304;p18:notes"/>
          <p:cNvSpPr/>
          <p:nvPr>
            <p:ph idx="2" type="sldImg"/>
          </p:nvPr>
        </p:nvSpPr>
        <p:spPr>
          <a:xfrm>
            <a:off x="304800" y="812800"/>
            <a:ext cx="6948487"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
            <a:headEnd len="sm" w="sm" type="none"/>
            <a:tailEnd len="sm" w="sm" type="none"/>
          </a:ln>
        </p:spPr>
      </p:sp>
      <p:sp>
        <p:nvSpPr>
          <p:cNvPr id="305" name="Google Shape;305;p18:notes"/>
          <p:cNvSpPr/>
          <p:nvPr/>
        </p:nvSpPr>
        <p:spPr>
          <a:xfrm>
            <a:off x="755650" y="5078412"/>
            <a:ext cx="6048375" cy="4811712"/>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306" name="Google Shape;306;p18:notes"/>
          <p:cNvSpPr txBox="1"/>
          <p:nvPr>
            <p:ph idx="1" type="body"/>
          </p:nvPr>
        </p:nvSpPr>
        <p:spPr>
          <a:xfrm>
            <a:off x="755650" y="5078412"/>
            <a:ext cx="6027737" cy="47910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0"/>
          <p:cNvSpPr txBox="1"/>
          <p:nvPr>
            <p:ph idx="10" type="dt"/>
          </p:nvPr>
        </p:nvSpPr>
        <p:spPr>
          <a:xfrm>
            <a:off x="101600" y="6213475"/>
            <a:ext cx="2716212" cy="681037"/>
          </a:xfrm>
          <a:prstGeom prst="rect">
            <a:avLst/>
          </a:prstGeom>
          <a:noFill/>
          <a:ln>
            <a:noFill/>
          </a:ln>
        </p:spPr>
        <p:txBody>
          <a:bodyPr anchorCtr="0" anchor="t" bIns="54000" lIns="108000" spcFirstLastPara="1" rIns="108000" wrap="square" tIns="54000">
            <a:noAutofit/>
          </a:bodyPr>
          <a:lstStyle>
            <a:lvl1pPr lvl="0" marR="0" algn="l">
              <a:lnSpc>
                <a:spcPct val="100000"/>
              </a:lnSpc>
              <a:spcBef>
                <a:spcPts val="0"/>
              </a:spcBef>
              <a:spcAft>
                <a:spcPts val="0"/>
              </a:spcAft>
              <a:buSzPts val="1400"/>
              <a:buNone/>
              <a:defRPr b="0" i="0" sz="2400" u="none">
                <a:solidFill>
                  <a:srgbClr val="000000"/>
                </a:solidFill>
                <a:latin typeface="Times New Roman"/>
                <a:ea typeface="Times New Roman"/>
                <a:cs typeface="Times New Roman"/>
                <a:sym typeface="Times New Roman"/>
              </a:defRPr>
            </a:lvl1pPr>
            <a:lvl2pPr lvl="1"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2pPr>
            <a:lvl3pPr lvl="2"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3pPr>
            <a:lvl4pPr lvl="3"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4pPr>
            <a:lvl5pPr lvl="4"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5pPr>
            <a:lvl6pPr lvl="5"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6pPr>
            <a:lvl7pPr lvl="6"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7pPr>
            <a:lvl8pPr lvl="7"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8pPr>
            <a:lvl9pPr lvl="8"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9pPr>
          </a:lstStyle>
          <a:p/>
        </p:txBody>
      </p:sp>
      <p:sp>
        <p:nvSpPr>
          <p:cNvPr id="30" name="Google Shape;30;p2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1pPr>
            <a:lvl2pPr lvl="1"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9pPr>
          </a:lstStyle>
          <a:p/>
        </p:txBody>
      </p:sp>
      <p:sp>
        <p:nvSpPr>
          <p:cNvPr id="31" name="Google Shape;31;p20"/>
          <p:cNvSpPr txBox="1"/>
          <p:nvPr>
            <p:ph idx="12" type="sldNum"/>
          </p:nvPr>
        </p:nvSpPr>
        <p:spPr>
          <a:xfrm>
            <a:off x="10648950" y="233362"/>
            <a:ext cx="1093787" cy="473075"/>
          </a:xfrm>
          <a:prstGeom prst="rect">
            <a:avLst/>
          </a:prstGeom>
          <a:noFill/>
          <a:ln>
            <a:noFill/>
          </a:ln>
        </p:spPr>
        <p:txBody>
          <a:bodyPr anchorCtr="0" anchor="t" bIns="54000" lIns="108000" spcFirstLastPara="1" rIns="108000" wrap="square" tIns="54000">
            <a:noAutofit/>
          </a:bodyPr>
          <a:lstStyle>
            <a:lvl1pPr indent="0" lvl="0"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22"/>
          <p:cNvSpPr txBox="1"/>
          <p:nvPr>
            <p:ph idx="10" type="dt"/>
          </p:nvPr>
        </p:nvSpPr>
        <p:spPr>
          <a:xfrm>
            <a:off x="10340975" y="6276975"/>
            <a:ext cx="1101725" cy="3640137"/>
          </a:xfrm>
          <a:prstGeom prst="rect">
            <a:avLst/>
          </a:prstGeom>
          <a:noFill/>
          <a:ln>
            <a:noFill/>
          </a:ln>
        </p:spPr>
        <p:txBody>
          <a:bodyPr anchorCtr="0" anchor="t" bIns="54000" lIns="108000" spcFirstLastPara="1" rIns="108000" wrap="square" tIns="54000">
            <a:noAutofit/>
          </a:bodyPr>
          <a:lstStyle>
            <a:lvl1pPr lvl="0" marR="0" algn="l">
              <a:lnSpc>
                <a:spcPct val="100000"/>
              </a:lnSpc>
              <a:spcBef>
                <a:spcPts val="0"/>
              </a:spcBef>
              <a:spcAft>
                <a:spcPts val="0"/>
              </a:spcAft>
              <a:buSzPts val="1400"/>
              <a:buNone/>
              <a:defRPr b="0" i="0" sz="2900" u="none">
                <a:solidFill>
                  <a:srgbClr val="000000"/>
                </a:solidFill>
                <a:latin typeface="Century Gothic"/>
                <a:ea typeface="Century Gothic"/>
                <a:cs typeface="Century Gothic"/>
                <a:sym typeface="Century Gothic"/>
              </a:defRPr>
            </a:lvl1pPr>
            <a:lvl2pPr lvl="1"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2pPr>
            <a:lvl3pPr lvl="2"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3pPr>
            <a:lvl4pPr lvl="3"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4pPr>
            <a:lvl5pPr lvl="4"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5pPr>
            <a:lvl6pPr lvl="5"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6pPr>
            <a:lvl7pPr lvl="6"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7pPr>
            <a:lvl8pPr lvl="7"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8pPr>
            <a:lvl9pPr lvl="8"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9pPr>
          </a:lstStyle>
          <a:p/>
        </p:txBody>
      </p:sp>
      <p:sp>
        <p:nvSpPr>
          <p:cNvPr id="41" name="Google Shape;41;p22"/>
          <p:cNvSpPr txBox="1"/>
          <p:nvPr>
            <p:ph idx="11" type="ftr"/>
          </p:nvPr>
        </p:nvSpPr>
        <p:spPr>
          <a:xfrm>
            <a:off x="2584450" y="6281737"/>
            <a:ext cx="7561262" cy="549275"/>
          </a:xfrm>
          <a:prstGeom prst="rect">
            <a:avLst/>
          </a:prstGeom>
          <a:noFill/>
          <a:ln>
            <a:noFill/>
          </a:ln>
        </p:spPr>
        <p:txBody>
          <a:bodyPr anchorCtr="0" anchor="t" bIns="54000" lIns="108000" spcFirstLastPara="1" rIns="108000" wrap="square" tIns="54000">
            <a:noAutofit/>
          </a:bodyPr>
          <a:lstStyle>
            <a:lvl1pPr lvl="0" marR="0" algn="l">
              <a:lnSpc>
                <a:spcPct val="100000"/>
              </a:lnSpc>
              <a:spcBef>
                <a:spcPts val="0"/>
              </a:spcBef>
              <a:spcAft>
                <a:spcPts val="0"/>
              </a:spcAft>
              <a:buSzPts val="1400"/>
              <a:buNone/>
              <a:defRPr b="0" i="0" sz="2900" u="none">
                <a:solidFill>
                  <a:srgbClr val="000000"/>
                </a:solidFill>
                <a:latin typeface="Century Gothic"/>
                <a:ea typeface="Century Gothic"/>
                <a:cs typeface="Century Gothic"/>
                <a:sym typeface="Century Gothic"/>
              </a:defRPr>
            </a:lvl1pPr>
            <a:lvl2pPr lvl="1"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2pPr>
            <a:lvl3pPr lvl="2"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3pPr>
            <a:lvl4pPr lvl="3"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4pPr>
            <a:lvl5pPr lvl="4"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5pPr>
            <a:lvl6pPr lvl="5"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6pPr>
            <a:lvl7pPr lvl="6"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7pPr>
            <a:lvl8pPr lvl="7"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8pPr>
            <a:lvl9pPr lvl="8" marR="0" algn="l">
              <a:lnSpc>
                <a:spcPct val="93000"/>
              </a:lnSpc>
              <a:spcBef>
                <a:spcPts val="0"/>
              </a:spcBef>
              <a:spcAft>
                <a:spcPts val="0"/>
              </a:spcAft>
              <a:buSzPts val="1400"/>
              <a:buNone/>
              <a:defRPr b="0" i="0" sz="2800" u="none" cap="none" strike="noStrike">
                <a:solidFill>
                  <a:srgbClr val="FFFFFF"/>
                </a:solidFill>
                <a:latin typeface="Arial"/>
                <a:ea typeface="Arial"/>
                <a:cs typeface="Arial"/>
                <a:sym typeface="Arial"/>
              </a:defRPr>
            </a:lvl9pPr>
          </a:lstStyle>
          <a:p/>
        </p:txBody>
      </p:sp>
      <p:sp>
        <p:nvSpPr>
          <p:cNvPr id="42" name="Google Shape;42;p22"/>
          <p:cNvSpPr txBox="1"/>
          <p:nvPr>
            <p:ph idx="12" type="sldNum"/>
          </p:nvPr>
        </p:nvSpPr>
        <p:spPr>
          <a:xfrm>
            <a:off x="530225" y="806450"/>
            <a:ext cx="735012" cy="549275"/>
          </a:xfrm>
          <a:prstGeom prst="rect">
            <a:avLst/>
          </a:prstGeom>
          <a:noFill/>
          <a:ln>
            <a:noFill/>
          </a:ln>
        </p:spPr>
        <p:txBody>
          <a:bodyPr anchorCtr="0" anchor="t" bIns="54000" lIns="108000" spcFirstLastPara="1" rIns="108000" wrap="square" tIns="54000">
            <a:noAutofit/>
          </a:bodyPr>
          <a:lstStyle>
            <a:lvl1pPr indent="0" lvl="0"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1pPr>
            <a:lvl2pPr indent="0" lvl="1"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2pPr>
            <a:lvl3pPr indent="0" lvl="2"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3pPr>
            <a:lvl4pPr indent="0" lvl="3"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4pPr>
            <a:lvl5pPr indent="0" lvl="4"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5pPr>
            <a:lvl6pPr indent="0" lvl="5"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6pPr>
            <a:lvl7pPr indent="0" lvl="6"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7pPr>
            <a:lvl8pPr indent="0" lvl="7"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8pPr>
            <a:lvl9pPr indent="0" lvl="8" marL="0" marR="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2" name="Shape 22"/>
        <p:cNvGrpSpPr/>
        <p:nvPr/>
      </p:nvGrpSpPr>
      <p:grpSpPr>
        <a:xfrm>
          <a:off x="0" y="0"/>
          <a:ext cx="0" cy="0"/>
          <a:chOff x="0" y="0"/>
          <a:chExt cx="0" cy="0"/>
        </a:xfrm>
      </p:grpSpPr>
      <p:sp>
        <p:nvSpPr>
          <p:cNvPr id="23" name="Google Shape;23;p19"/>
          <p:cNvSpPr/>
          <p:nvPr/>
        </p:nvSpPr>
        <p:spPr>
          <a:xfrm>
            <a:off x="0" y="0"/>
            <a:ext cx="182562" cy="7021512"/>
          </a:xfrm>
          <a:prstGeom prst="rect">
            <a:avLst/>
          </a:prstGeom>
          <a:solidFill>
            <a:srgbClr val="17406D"/>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4" name="Google Shape;24;p19"/>
          <p:cNvSpPr txBox="1"/>
          <p:nvPr>
            <p:ph type="title"/>
          </p:nvPr>
        </p:nvSpPr>
        <p:spPr>
          <a:xfrm>
            <a:off x="2584450" y="2363787"/>
            <a:ext cx="8855075" cy="2481262"/>
          </a:xfrm>
          <a:prstGeom prst="rect">
            <a:avLst/>
          </a:prstGeom>
          <a:noFill/>
          <a:ln>
            <a:noFill/>
          </a:ln>
        </p:spPr>
        <p:txBody>
          <a:bodyPr anchorCtr="0" anchor="b" bIns="54000" lIns="108000" spcFirstLastPara="1" rIns="108000" wrap="square" tIns="54000">
            <a:noAutofit/>
          </a:bodyPr>
          <a:lstStyle>
            <a:lvl1pPr lvl="0"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1pPr>
            <a:lvl2pPr lvl="1"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2pPr>
            <a:lvl3pPr lvl="2"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3pPr>
            <a:lvl4pPr lvl="3"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4pPr>
            <a:lvl5pPr lvl="4"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5pPr>
            <a:lvl6pPr lvl="5"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6pPr>
            <a:lvl7pPr lvl="6"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7pPr>
            <a:lvl8pPr lvl="7"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8pPr>
            <a:lvl9pPr lvl="8"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9pPr>
          </a:lstStyle>
          <a:p/>
        </p:txBody>
      </p:sp>
      <p:sp>
        <p:nvSpPr>
          <p:cNvPr id="25" name="Google Shape;25;p19"/>
          <p:cNvSpPr txBox="1"/>
          <p:nvPr>
            <p:ph idx="1" type="body"/>
          </p:nvPr>
        </p:nvSpPr>
        <p:spPr>
          <a:xfrm>
            <a:off x="608012" y="1643062"/>
            <a:ext cx="10909300" cy="5848350"/>
          </a:xfrm>
          <a:prstGeom prst="rect">
            <a:avLst/>
          </a:prstGeom>
          <a:noFill/>
          <a:ln>
            <a:noFill/>
          </a:ln>
        </p:spPr>
        <p:txBody>
          <a:bodyPr anchorCtr="0" anchor="t" bIns="0" lIns="0" spcFirstLastPara="1" rIns="0" wrap="square" tIns="5750">
            <a:noAutofit/>
          </a:bodyPr>
          <a:lstStyle>
            <a:lvl1pPr indent="-228600" lvl="0" marL="457200" marR="0" rtl="0" algn="l">
              <a:lnSpc>
                <a:spcPct val="98000"/>
              </a:lnSpc>
              <a:spcBef>
                <a:spcPts val="0"/>
              </a:spcBef>
              <a:spcAft>
                <a:spcPts val="0"/>
              </a:spcAft>
              <a:buClr>
                <a:srgbClr val="000000"/>
              </a:buClr>
              <a:buSzPts val="1400"/>
              <a:buFont typeface="Arial"/>
              <a:buNone/>
              <a:defRPr b="0" i="0" sz="3800" u="none" cap="none" strike="noStrike">
                <a:solidFill>
                  <a:srgbClr val="404040"/>
                </a:solidFill>
                <a:latin typeface="Century Gothic"/>
                <a:ea typeface="Century Gothic"/>
                <a:cs typeface="Century Gothic"/>
                <a:sym typeface="Century Gothic"/>
              </a:defRPr>
            </a:lvl1pPr>
            <a:lvl2pPr indent="-228600" lvl="1" marL="914400" marR="0" rtl="0" algn="l">
              <a:lnSpc>
                <a:spcPct val="98000"/>
              </a:lnSpc>
              <a:spcBef>
                <a:spcPts val="1700"/>
              </a:spcBef>
              <a:spcAft>
                <a:spcPts val="0"/>
              </a:spcAft>
              <a:buClr>
                <a:srgbClr val="000000"/>
              </a:buClr>
              <a:buSzPts val="1400"/>
              <a:buFont typeface="Arial"/>
              <a:buNone/>
              <a:defRPr b="0" i="0" sz="1700" u="none" cap="none" strike="noStrike">
                <a:solidFill>
                  <a:srgbClr val="404040"/>
                </a:solidFill>
                <a:latin typeface="Century Gothic"/>
                <a:ea typeface="Century Gothic"/>
                <a:cs typeface="Century Gothic"/>
                <a:sym typeface="Century Gothic"/>
              </a:defRPr>
            </a:lvl2pPr>
            <a:lvl3pPr indent="-228600" lvl="2" marL="1371600" marR="0" rtl="0" algn="l">
              <a:lnSpc>
                <a:spcPct val="98000"/>
              </a:lnSpc>
              <a:spcBef>
                <a:spcPts val="1300"/>
              </a:spcBef>
              <a:spcAft>
                <a:spcPts val="0"/>
              </a:spcAft>
              <a:buClr>
                <a:srgbClr val="000000"/>
              </a:buClr>
              <a:buSzPts val="1400"/>
              <a:buFont typeface="Arial"/>
              <a:buNone/>
              <a:defRPr b="0" i="0" sz="1400" u="none" cap="none" strike="noStrike">
                <a:solidFill>
                  <a:srgbClr val="404040"/>
                </a:solidFill>
                <a:latin typeface="Century Gothic"/>
                <a:ea typeface="Century Gothic"/>
                <a:cs typeface="Century Gothic"/>
                <a:sym typeface="Century Gothic"/>
              </a:defRPr>
            </a:lvl3pPr>
            <a:lvl4pPr indent="-228600" lvl="3" marL="1828800" marR="0" rtl="0" algn="l">
              <a:lnSpc>
                <a:spcPct val="98000"/>
              </a:lnSpc>
              <a:spcBef>
                <a:spcPts val="1000"/>
              </a:spcBef>
              <a:spcAft>
                <a:spcPts val="0"/>
              </a:spcAft>
              <a:buClr>
                <a:srgbClr val="000000"/>
              </a:buClr>
              <a:buSzPts val="1400"/>
              <a:buFont typeface="Arial"/>
              <a:buNone/>
              <a:defRPr b="0" i="0" sz="1400" u="none" cap="none" strike="noStrike">
                <a:solidFill>
                  <a:srgbClr val="404040"/>
                </a:solidFill>
                <a:latin typeface="Century Gothic"/>
                <a:ea typeface="Century Gothic"/>
                <a:cs typeface="Century Gothic"/>
                <a:sym typeface="Century Gothic"/>
              </a:defRPr>
            </a:lvl4pPr>
            <a:lvl5pPr indent="-228600" lvl="4" marL="2286000" marR="0" rtl="0" algn="l">
              <a:lnSpc>
                <a:spcPct val="98000"/>
              </a:lnSpc>
              <a:spcBef>
                <a:spcPts val="6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5pPr>
            <a:lvl6pPr indent="-228600" lvl="5" marL="27432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6pPr>
            <a:lvl7pPr indent="-228600" lvl="6" marL="32004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7pPr>
            <a:lvl8pPr indent="-228600" lvl="7" marL="36576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8pPr>
            <a:lvl9pPr indent="-228600" lvl="8" marL="4114800" marR="0" rtl="0" algn="l">
              <a:lnSpc>
                <a:spcPct val="98000"/>
              </a:lnSpc>
              <a:spcBef>
                <a:spcPts val="300"/>
              </a:spcBef>
              <a:spcAft>
                <a:spcPts val="30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9pPr>
          </a:lstStyle>
          <a:p/>
        </p:txBody>
      </p:sp>
      <p:sp>
        <p:nvSpPr>
          <p:cNvPr id="26" name="Google Shape;26;p19"/>
          <p:cNvSpPr txBox="1"/>
          <p:nvPr>
            <p:ph idx="10" type="dt"/>
          </p:nvPr>
        </p:nvSpPr>
        <p:spPr>
          <a:xfrm>
            <a:off x="101600" y="6213475"/>
            <a:ext cx="2716212" cy="681037"/>
          </a:xfrm>
          <a:prstGeom prst="rect">
            <a:avLst/>
          </a:prstGeom>
          <a:noFill/>
          <a:ln>
            <a:noFill/>
          </a:ln>
        </p:spPr>
        <p:txBody>
          <a:bodyPr anchorCtr="0" anchor="t" bIns="54000" lIns="108000" spcFirstLastPara="1" rIns="108000" wrap="square" tIns="540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9pPr>
          </a:lstStyle>
          <a:p/>
        </p:txBody>
      </p:sp>
      <p:sp>
        <p:nvSpPr>
          <p:cNvPr id="27" name="Google Shape;27;p19"/>
          <p:cNvSpPr txBox="1"/>
          <p:nvPr>
            <p:ph idx="12" type="sldNum"/>
          </p:nvPr>
        </p:nvSpPr>
        <p:spPr>
          <a:xfrm>
            <a:off x="10648950" y="233362"/>
            <a:ext cx="1093787" cy="473075"/>
          </a:xfrm>
          <a:prstGeom prst="rect">
            <a:avLst/>
          </a:prstGeom>
          <a:noFill/>
          <a:ln>
            <a:noFill/>
          </a:ln>
        </p:spPr>
        <p:txBody>
          <a:bodyPr anchorCtr="0" anchor="t" bIns="54000" lIns="108000" spcFirstLastPara="1" rIns="108000" wrap="square" tIns="54000">
            <a:noAutofit/>
          </a:bodyPr>
          <a:lstStyle>
            <a:lvl1pPr indent="0" lvl="0"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000000"/>
              </a:buClr>
              <a:buSzPts val="2400"/>
              <a:buFont typeface="Times New Roman"/>
              <a:buNone/>
              <a:defRPr b="0" i="0" sz="2400" u="none" cap="none" strike="noStrike">
                <a:solidFill>
                  <a:srgbClr val="000000"/>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32" name="Shape 32"/>
        <p:cNvGrpSpPr/>
        <p:nvPr/>
      </p:nvGrpSpPr>
      <p:grpSpPr>
        <a:xfrm>
          <a:off x="0" y="0"/>
          <a:ext cx="0" cy="0"/>
          <a:chOff x="0" y="0"/>
          <a:chExt cx="0" cy="0"/>
        </a:xfrm>
      </p:grpSpPr>
      <p:sp>
        <p:nvSpPr>
          <p:cNvPr id="33" name="Google Shape;33;p21"/>
          <p:cNvSpPr/>
          <p:nvPr/>
        </p:nvSpPr>
        <p:spPr>
          <a:xfrm>
            <a:off x="0" y="0"/>
            <a:ext cx="182562" cy="7021512"/>
          </a:xfrm>
          <a:prstGeom prst="rect">
            <a:avLst/>
          </a:prstGeom>
          <a:solidFill>
            <a:srgbClr val="17406D"/>
          </a:solid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34" name="Google Shape;34;p21"/>
          <p:cNvSpPr txBox="1"/>
          <p:nvPr>
            <p:ph type="title"/>
          </p:nvPr>
        </p:nvSpPr>
        <p:spPr>
          <a:xfrm>
            <a:off x="2587625" y="638175"/>
            <a:ext cx="8851900" cy="2481262"/>
          </a:xfrm>
          <a:prstGeom prst="rect">
            <a:avLst/>
          </a:prstGeom>
          <a:noFill/>
          <a:ln>
            <a:noFill/>
          </a:ln>
        </p:spPr>
        <p:txBody>
          <a:bodyPr anchorCtr="0" anchor="t" bIns="54000" lIns="108000" spcFirstLastPara="1" rIns="108000" wrap="square" tIns="54000">
            <a:noAutofit/>
          </a:bodyPr>
          <a:lstStyle>
            <a:lvl1pPr lvl="0"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1pPr>
            <a:lvl2pPr lvl="1"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2pPr>
            <a:lvl3pPr lvl="2"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3pPr>
            <a:lvl4pPr lvl="3"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4pPr>
            <a:lvl5pPr lvl="4"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5pPr>
            <a:lvl6pPr lvl="5"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6pPr>
            <a:lvl7pPr lvl="6"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7pPr>
            <a:lvl8pPr lvl="7"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8pPr>
            <a:lvl9pPr lvl="8" marR="0" rtl="0" algn="l">
              <a:lnSpc>
                <a:spcPct val="98000"/>
              </a:lnSpc>
              <a:spcBef>
                <a:spcPts val="0"/>
              </a:spcBef>
              <a:spcAft>
                <a:spcPts val="0"/>
              </a:spcAft>
              <a:buClr>
                <a:srgbClr val="000000"/>
              </a:buClr>
              <a:buSzPts val="1400"/>
              <a:buFont typeface="Arial"/>
              <a:buNone/>
              <a:defRPr b="0" i="0" sz="5300" u="none" cap="none" strike="noStrike">
                <a:solidFill>
                  <a:srgbClr val="000000"/>
                </a:solidFill>
                <a:latin typeface="Century Gothic"/>
                <a:ea typeface="Century Gothic"/>
                <a:cs typeface="Century Gothic"/>
                <a:sym typeface="Century Gothic"/>
              </a:defRPr>
            </a:lvl9pPr>
          </a:lstStyle>
          <a:p/>
        </p:txBody>
      </p:sp>
      <p:sp>
        <p:nvSpPr>
          <p:cNvPr id="35" name="Google Shape;35;p21"/>
          <p:cNvSpPr txBox="1"/>
          <p:nvPr>
            <p:ph idx="1" type="body"/>
          </p:nvPr>
        </p:nvSpPr>
        <p:spPr>
          <a:xfrm>
            <a:off x="2584450" y="2184400"/>
            <a:ext cx="8855075" cy="6518275"/>
          </a:xfrm>
          <a:prstGeom prst="rect">
            <a:avLst/>
          </a:prstGeom>
          <a:noFill/>
          <a:ln>
            <a:noFill/>
          </a:ln>
        </p:spPr>
        <p:txBody>
          <a:bodyPr anchorCtr="0" anchor="t" bIns="54000" lIns="108000" spcFirstLastPara="1" rIns="108000" wrap="square" tIns="54000">
            <a:noAutofit/>
          </a:bodyPr>
          <a:lstStyle>
            <a:lvl1pPr indent="-228600" lvl="0" marL="457200" marR="0" rtl="0" algn="l">
              <a:lnSpc>
                <a:spcPct val="98000"/>
              </a:lnSpc>
              <a:spcBef>
                <a:spcPts val="0"/>
              </a:spcBef>
              <a:spcAft>
                <a:spcPts val="0"/>
              </a:spcAft>
              <a:buClr>
                <a:srgbClr val="000000"/>
              </a:buClr>
              <a:buSzPts val="1400"/>
              <a:buFont typeface="Arial"/>
              <a:buNone/>
              <a:defRPr b="0" i="0" sz="3800" u="none" cap="none" strike="noStrike">
                <a:solidFill>
                  <a:srgbClr val="404040"/>
                </a:solidFill>
                <a:latin typeface="Century Gothic"/>
                <a:ea typeface="Century Gothic"/>
                <a:cs typeface="Century Gothic"/>
                <a:sym typeface="Century Gothic"/>
              </a:defRPr>
            </a:lvl1pPr>
            <a:lvl2pPr indent="-228600" lvl="1" marL="914400" marR="0" rtl="0" algn="l">
              <a:lnSpc>
                <a:spcPct val="98000"/>
              </a:lnSpc>
              <a:spcBef>
                <a:spcPts val="1700"/>
              </a:spcBef>
              <a:spcAft>
                <a:spcPts val="0"/>
              </a:spcAft>
              <a:buClr>
                <a:srgbClr val="000000"/>
              </a:buClr>
              <a:buSzPts val="1400"/>
              <a:buFont typeface="Arial"/>
              <a:buNone/>
              <a:defRPr b="0" i="0" sz="1700" u="none" cap="none" strike="noStrike">
                <a:solidFill>
                  <a:srgbClr val="404040"/>
                </a:solidFill>
                <a:latin typeface="Century Gothic"/>
                <a:ea typeface="Century Gothic"/>
                <a:cs typeface="Century Gothic"/>
                <a:sym typeface="Century Gothic"/>
              </a:defRPr>
            </a:lvl2pPr>
            <a:lvl3pPr indent="-228600" lvl="2" marL="1371600" marR="0" rtl="0" algn="l">
              <a:lnSpc>
                <a:spcPct val="98000"/>
              </a:lnSpc>
              <a:spcBef>
                <a:spcPts val="1300"/>
              </a:spcBef>
              <a:spcAft>
                <a:spcPts val="0"/>
              </a:spcAft>
              <a:buClr>
                <a:srgbClr val="000000"/>
              </a:buClr>
              <a:buSzPts val="1400"/>
              <a:buFont typeface="Arial"/>
              <a:buNone/>
              <a:defRPr b="0" i="0" sz="1400" u="none" cap="none" strike="noStrike">
                <a:solidFill>
                  <a:srgbClr val="404040"/>
                </a:solidFill>
                <a:latin typeface="Century Gothic"/>
                <a:ea typeface="Century Gothic"/>
                <a:cs typeface="Century Gothic"/>
                <a:sym typeface="Century Gothic"/>
              </a:defRPr>
            </a:lvl3pPr>
            <a:lvl4pPr indent="-228600" lvl="3" marL="1828800" marR="0" rtl="0" algn="l">
              <a:lnSpc>
                <a:spcPct val="98000"/>
              </a:lnSpc>
              <a:spcBef>
                <a:spcPts val="1000"/>
              </a:spcBef>
              <a:spcAft>
                <a:spcPts val="0"/>
              </a:spcAft>
              <a:buClr>
                <a:srgbClr val="000000"/>
              </a:buClr>
              <a:buSzPts val="1400"/>
              <a:buFont typeface="Arial"/>
              <a:buNone/>
              <a:defRPr b="0" i="0" sz="1400" u="none" cap="none" strike="noStrike">
                <a:solidFill>
                  <a:srgbClr val="404040"/>
                </a:solidFill>
                <a:latin typeface="Century Gothic"/>
                <a:ea typeface="Century Gothic"/>
                <a:cs typeface="Century Gothic"/>
                <a:sym typeface="Century Gothic"/>
              </a:defRPr>
            </a:lvl4pPr>
            <a:lvl5pPr indent="-228600" lvl="4" marL="2286000" marR="0" rtl="0" algn="l">
              <a:lnSpc>
                <a:spcPct val="98000"/>
              </a:lnSpc>
              <a:spcBef>
                <a:spcPts val="6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5pPr>
            <a:lvl6pPr indent="-228600" lvl="5" marL="27432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6pPr>
            <a:lvl7pPr indent="-228600" lvl="6" marL="32004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7pPr>
            <a:lvl8pPr indent="-228600" lvl="7" marL="3657600" marR="0" rtl="0" algn="l">
              <a:lnSpc>
                <a:spcPct val="98000"/>
              </a:lnSpc>
              <a:spcBef>
                <a:spcPts val="300"/>
              </a:spcBef>
              <a:spcAft>
                <a:spcPts val="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8pPr>
            <a:lvl9pPr indent="-228600" lvl="8" marL="4114800" marR="0" rtl="0" algn="l">
              <a:lnSpc>
                <a:spcPct val="98000"/>
              </a:lnSpc>
              <a:spcBef>
                <a:spcPts val="300"/>
              </a:spcBef>
              <a:spcAft>
                <a:spcPts val="300"/>
              </a:spcAft>
              <a:buClr>
                <a:srgbClr val="000000"/>
              </a:buClr>
              <a:buSzPts val="1400"/>
              <a:buFont typeface="Arial"/>
              <a:buNone/>
              <a:defRPr b="0" i="0" sz="2400" u="none" cap="none" strike="noStrike">
                <a:solidFill>
                  <a:srgbClr val="404040"/>
                </a:solidFill>
                <a:latin typeface="Century Gothic"/>
                <a:ea typeface="Century Gothic"/>
                <a:cs typeface="Century Gothic"/>
                <a:sym typeface="Century Gothic"/>
              </a:defRPr>
            </a:lvl9pPr>
          </a:lstStyle>
          <a:p/>
        </p:txBody>
      </p:sp>
      <p:sp>
        <p:nvSpPr>
          <p:cNvPr id="36" name="Google Shape;36;p21"/>
          <p:cNvSpPr txBox="1"/>
          <p:nvPr>
            <p:ph idx="10" type="dt"/>
          </p:nvPr>
        </p:nvSpPr>
        <p:spPr>
          <a:xfrm>
            <a:off x="10340975" y="6276975"/>
            <a:ext cx="1101725" cy="3640137"/>
          </a:xfrm>
          <a:prstGeom prst="rect">
            <a:avLst/>
          </a:prstGeom>
          <a:noFill/>
          <a:ln>
            <a:noFill/>
          </a:ln>
        </p:spPr>
        <p:txBody>
          <a:bodyPr anchorCtr="0" anchor="t" bIns="54000" lIns="108000" spcFirstLastPara="1" rIns="108000" wrap="square" tIns="54000">
            <a:noAutofit/>
          </a:bodyPr>
          <a:lstStyle>
            <a:lvl1pPr lvl="0" marR="0" rtl="0" algn="l">
              <a:lnSpc>
                <a:spcPct val="100000"/>
              </a:lnSpc>
              <a:spcBef>
                <a:spcPts val="0"/>
              </a:spcBef>
              <a:spcAft>
                <a:spcPts val="0"/>
              </a:spcAft>
              <a:buClr>
                <a:srgbClr val="000000"/>
              </a:buClr>
              <a:buSzPts val="1400"/>
              <a:buFont typeface="Arial"/>
              <a:buNone/>
              <a:defRPr b="0" i="0" sz="2900" u="none" cap="none" strike="noStrike">
                <a:solidFill>
                  <a:srgbClr val="000000"/>
                </a:solidFill>
                <a:latin typeface="Century Gothic"/>
                <a:ea typeface="Century Gothic"/>
                <a:cs typeface="Century Gothic"/>
                <a:sym typeface="Century Gothic"/>
              </a:defRPr>
            </a:lvl1pPr>
            <a:lvl2pPr lvl="1"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9pPr>
          </a:lstStyle>
          <a:p/>
        </p:txBody>
      </p:sp>
      <p:sp>
        <p:nvSpPr>
          <p:cNvPr id="37" name="Google Shape;37;p21"/>
          <p:cNvSpPr txBox="1"/>
          <p:nvPr>
            <p:ph idx="11" type="ftr"/>
          </p:nvPr>
        </p:nvSpPr>
        <p:spPr>
          <a:xfrm>
            <a:off x="2584450" y="6281737"/>
            <a:ext cx="7561262" cy="549275"/>
          </a:xfrm>
          <a:prstGeom prst="rect">
            <a:avLst/>
          </a:prstGeom>
          <a:noFill/>
          <a:ln>
            <a:noFill/>
          </a:ln>
        </p:spPr>
        <p:txBody>
          <a:bodyPr anchorCtr="0" anchor="t" bIns="54000" lIns="108000" spcFirstLastPara="1" rIns="108000" wrap="square" tIns="54000">
            <a:noAutofit/>
          </a:bodyPr>
          <a:lstStyle>
            <a:lvl1pPr lvl="0" marR="0" rtl="0" algn="l">
              <a:lnSpc>
                <a:spcPct val="100000"/>
              </a:lnSpc>
              <a:spcBef>
                <a:spcPts val="0"/>
              </a:spcBef>
              <a:spcAft>
                <a:spcPts val="0"/>
              </a:spcAft>
              <a:buClr>
                <a:srgbClr val="000000"/>
              </a:buClr>
              <a:buSzPts val="1400"/>
              <a:buFont typeface="Arial"/>
              <a:buNone/>
              <a:defRPr b="0" i="0" sz="2900" u="none" cap="none" strike="noStrike">
                <a:solidFill>
                  <a:srgbClr val="000000"/>
                </a:solidFill>
                <a:latin typeface="Century Gothic"/>
                <a:ea typeface="Century Gothic"/>
                <a:cs typeface="Century Gothic"/>
                <a:sym typeface="Century Gothic"/>
              </a:defRPr>
            </a:lvl1pPr>
            <a:lvl2pPr lvl="1"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2pPr>
            <a:lvl3pPr lvl="2"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3pPr>
            <a:lvl4pPr lvl="3"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4pPr>
            <a:lvl5pPr lvl="4"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5pPr>
            <a:lvl6pPr lvl="5"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6pPr>
            <a:lvl7pPr lvl="6"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7pPr>
            <a:lvl8pPr lvl="7"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8pPr>
            <a:lvl9pPr lvl="8" marR="0" rtl="0" algn="l">
              <a:lnSpc>
                <a:spcPct val="93000"/>
              </a:lnSpc>
              <a:spcBef>
                <a:spcPts val="0"/>
              </a:spcBef>
              <a:spcAft>
                <a:spcPts val="0"/>
              </a:spcAft>
              <a:buClr>
                <a:srgbClr val="000000"/>
              </a:buClr>
              <a:buSzPts val="1400"/>
              <a:buFont typeface="Arial"/>
              <a:buNone/>
              <a:defRPr b="0" i="0" sz="2800" u="none" cap="none" strike="noStrike">
                <a:solidFill>
                  <a:srgbClr val="FFFFFF"/>
                </a:solidFill>
                <a:latin typeface="Arial"/>
                <a:ea typeface="Arial"/>
                <a:cs typeface="Arial"/>
                <a:sym typeface="Arial"/>
              </a:defRPr>
            </a:lvl9pPr>
          </a:lstStyle>
          <a:p/>
        </p:txBody>
      </p:sp>
      <p:sp>
        <p:nvSpPr>
          <p:cNvPr id="38" name="Google Shape;38;p21"/>
          <p:cNvSpPr txBox="1"/>
          <p:nvPr>
            <p:ph idx="12" type="sldNum"/>
          </p:nvPr>
        </p:nvSpPr>
        <p:spPr>
          <a:xfrm>
            <a:off x="530225" y="806450"/>
            <a:ext cx="735012" cy="549275"/>
          </a:xfrm>
          <a:prstGeom prst="rect">
            <a:avLst/>
          </a:prstGeom>
          <a:noFill/>
          <a:ln>
            <a:noFill/>
          </a:ln>
        </p:spPr>
        <p:txBody>
          <a:bodyPr anchorCtr="0" anchor="t" bIns="54000" lIns="108000" spcFirstLastPara="1" rIns="108000" wrap="square" tIns="54000">
            <a:noAutofit/>
          </a:bodyPr>
          <a:lstStyle>
            <a:lvl1pPr indent="0" lvl="0"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1pPr>
            <a:lvl2pPr indent="0" lvl="1"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2pPr>
            <a:lvl3pPr indent="0" lvl="2"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3pPr>
            <a:lvl4pPr indent="0" lvl="3"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4pPr>
            <a:lvl5pPr indent="0" lvl="4"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5pPr>
            <a:lvl6pPr indent="0" lvl="5"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6pPr>
            <a:lvl7pPr indent="0" lvl="6"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7pPr>
            <a:lvl8pPr indent="0" lvl="7"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8pPr>
            <a:lvl9pPr indent="0" lvl="8" marL="0" marR="0" rtl="0" algn="l">
              <a:lnSpc>
                <a:spcPct val="100000"/>
              </a:lnSpc>
              <a:spcBef>
                <a:spcPts val="0"/>
              </a:spcBef>
              <a:spcAft>
                <a:spcPts val="0"/>
              </a:spcAft>
              <a:buClr>
                <a:srgbClr val="000000"/>
              </a:buClr>
              <a:buSzPts val="2900"/>
              <a:buFont typeface="Century Gothic"/>
              <a:buNone/>
              <a:defRPr b="0" i="0" sz="2900" u="none" cap="none" strike="noStrike">
                <a:solidFill>
                  <a:srgbClr val="000000"/>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1"/>
          <p:cNvSpPr txBox="1"/>
          <p:nvPr/>
        </p:nvSpPr>
        <p:spPr>
          <a:xfrm>
            <a:off x="2393950" y="2574925"/>
            <a:ext cx="11864975" cy="231616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262626"/>
              </a:buClr>
              <a:buSzPts val="4300"/>
              <a:buFont typeface="Century Gothic"/>
              <a:buNone/>
            </a:pPr>
            <a:r>
              <a:rPr b="0" i="0" lang="en-US" sz="4300" u="none" cap="none" strike="noStrike">
                <a:solidFill>
                  <a:srgbClr val="262626"/>
                </a:solidFill>
                <a:latin typeface="Century Gothic"/>
                <a:ea typeface="Century Gothic"/>
                <a:cs typeface="Century Gothic"/>
                <a:sym typeface="Century Gothic"/>
              </a:rPr>
              <a:t>Diseño de Bases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57" name="Shape 57"/>
        <p:cNvGrpSpPr/>
        <p:nvPr/>
      </p:nvGrpSpPr>
      <p:grpSpPr>
        <a:xfrm>
          <a:off x="0" y="0"/>
          <a:ext cx="0" cy="0"/>
          <a:chOff x="0" y="0"/>
          <a:chExt cx="0" cy="0"/>
        </a:xfrm>
      </p:grpSpPr>
      <p:sp>
        <p:nvSpPr>
          <p:cNvPr id="58" name="Google Shape;58;p2"/>
          <p:cNvSpPr txBox="1"/>
          <p:nvPr/>
        </p:nvSpPr>
        <p:spPr>
          <a:xfrm>
            <a:off x="1603375" y="52228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5300"/>
              <a:buFont typeface="Arial"/>
              <a:buNone/>
            </a:pPr>
            <a:r>
              <a:rPr b="0" i="0" lang="en-US" sz="5300" u="none" cap="none" strike="noStrike">
                <a:solidFill>
                  <a:srgbClr val="333333"/>
                </a:solidFill>
                <a:latin typeface="Arial"/>
                <a:ea typeface="Arial"/>
                <a:cs typeface="Arial"/>
                <a:sym typeface="Arial"/>
              </a:rPr>
              <a:t>Álgebra relacional (AR)</a:t>
            </a:r>
            <a:endParaRPr b="0" i="0" sz="1400" u="none" cap="none" strike="noStrike">
              <a:solidFill>
                <a:srgbClr val="000000"/>
              </a:solidFill>
              <a:latin typeface="Arial"/>
              <a:ea typeface="Arial"/>
              <a:cs typeface="Arial"/>
              <a:sym typeface="Arial"/>
            </a:endParaRPr>
          </a:p>
        </p:txBody>
      </p:sp>
      <p:sp>
        <p:nvSpPr>
          <p:cNvPr id="59" name="Google Shape;59;p2"/>
          <p:cNvSpPr txBox="1"/>
          <p:nvPr/>
        </p:nvSpPr>
        <p:spPr>
          <a:xfrm>
            <a:off x="1584325" y="2009775"/>
            <a:ext cx="9788400" cy="2428800"/>
          </a:xfrm>
          <a:prstGeom prst="rect">
            <a:avLst/>
          </a:prstGeom>
          <a:noFill/>
          <a:ln>
            <a:noFill/>
          </a:ln>
        </p:spPr>
        <p:txBody>
          <a:bodyPr anchorCtr="0" anchor="t" bIns="45000" lIns="90000" spcFirstLastPara="1" rIns="90000" wrap="square" tIns="45000">
            <a:noAutofit/>
          </a:bodyPr>
          <a:lstStyle/>
          <a:p>
            <a:pPr indent="0" lvl="0" marL="0" marR="0" rtl="0" algn="just">
              <a:lnSpc>
                <a:spcPct val="15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Se denomina álgebra relacional  a un conjunto de operaciones simples sobre tablas, a partir de las cuales se definen operaciones más complejas mediante composición. Define, por tanto, un lenguaje de manipulación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67" name="Shape 67"/>
        <p:cNvGrpSpPr/>
        <p:nvPr/>
      </p:nvGrpSpPr>
      <p:grpSpPr>
        <a:xfrm>
          <a:off x="0" y="0"/>
          <a:ext cx="0" cy="0"/>
          <a:chOff x="0" y="0"/>
          <a:chExt cx="0" cy="0"/>
        </a:xfrm>
      </p:grpSpPr>
      <p:sp>
        <p:nvSpPr>
          <p:cNvPr id="68" name="Google Shape;68;p3"/>
          <p:cNvSpPr txBox="1"/>
          <p:nvPr/>
        </p:nvSpPr>
        <p:spPr>
          <a:xfrm>
            <a:off x="1511300" y="306375"/>
            <a:ext cx="9793800" cy="3414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5300"/>
              <a:buFont typeface="Arial"/>
              <a:buNone/>
            </a:pPr>
            <a:r>
              <a:rPr b="0" i="0" lang="en-US" sz="5300" u="none" cap="none" strike="noStrike">
                <a:solidFill>
                  <a:srgbClr val="333333"/>
                </a:solidFill>
                <a:latin typeface="Arial"/>
                <a:ea typeface="Arial"/>
                <a:cs typeface="Arial"/>
                <a:sym typeface="Arial"/>
              </a:rPr>
              <a:t>Operaciones - Selección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333333"/>
              </a:buClr>
              <a:buSzPts val="3200"/>
              <a:buFont typeface="Arial"/>
              <a:buNone/>
            </a:pPr>
            <a:r>
              <a:t/>
            </a:r>
            <a:endParaRPr b="0" i="0" sz="3200" u="none" cap="none" strike="noStrike">
              <a:solidFill>
                <a:srgbClr val="333333"/>
              </a:solidFill>
              <a:latin typeface="Arial"/>
              <a:ea typeface="Arial"/>
              <a:cs typeface="Arial"/>
              <a:sym typeface="Arial"/>
            </a:endParaRPr>
          </a:p>
        </p:txBody>
      </p:sp>
      <p:sp>
        <p:nvSpPr>
          <p:cNvPr id="69" name="Google Shape;69;p3"/>
          <p:cNvSpPr txBox="1"/>
          <p:nvPr/>
        </p:nvSpPr>
        <p:spPr>
          <a:xfrm flipH="1">
            <a:off x="9599550" y="452525"/>
            <a:ext cx="2089200" cy="455700"/>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rgbClr val="000000"/>
              </a:buClr>
              <a:buSzPts val="2800"/>
              <a:buFont typeface="Noto Sans Symbols"/>
              <a:buNone/>
            </a:pPr>
            <a:r>
              <a:rPr b="1" i="0" lang="en-US" sz="2800" u="none" cap="none" strike="noStrike">
                <a:solidFill>
                  <a:srgbClr val="000000"/>
                </a:solidFill>
                <a:latin typeface="Noto Sans Symbols"/>
                <a:ea typeface="Noto Sans Symbols"/>
                <a:cs typeface="Noto Sans Symbols"/>
                <a:sym typeface="Noto Sans Symbols"/>
              </a:rPr>
              <a:t>σ</a:t>
            </a:r>
            <a:r>
              <a:rPr b="1" i="0" lang="en-US" sz="1800" u="none" cap="none" strike="noStrike">
                <a:solidFill>
                  <a:srgbClr val="000000"/>
                </a:solidFill>
                <a:latin typeface="Arial"/>
                <a:ea typeface="Arial"/>
                <a:cs typeface="Arial"/>
                <a:sym typeface="Arial"/>
              </a:rPr>
              <a:t>p</a:t>
            </a:r>
            <a:r>
              <a:rPr b="1" i="0" lang="en-US" sz="2800" u="none" cap="none" strike="noStrike">
                <a:solidFill>
                  <a:srgbClr val="000000"/>
                </a:solidFill>
                <a:latin typeface="Arial"/>
                <a:ea typeface="Arial"/>
                <a:cs typeface="Arial"/>
                <a:sym typeface="Arial"/>
              </a:rPr>
              <a:t> (T) </a:t>
            </a:r>
            <a:endParaRPr b="0" i="0" sz="1400" u="none" cap="none" strike="noStrike">
              <a:solidFill>
                <a:srgbClr val="000000"/>
              </a:solidFill>
              <a:latin typeface="Arial"/>
              <a:ea typeface="Arial"/>
              <a:cs typeface="Arial"/>
              <a:sym typeface="Arial"/>
            </a:endParaRPr>
          </a:p>
        </p:txBody>
      </p:sp>
      <p:sp>
        <p:nvSpPr>
          <p:cNvPr id="70" name="Google Shape;70;p3"/>
          <p:cNvSpPr txBox="1"/>
          <p:nvPr/>
        </p:nvSpPr>
        <p:spPr>
          <a:xfrm>
            <a:off x="828200" y="1394062"/>
            <a:ext cx="11160000" cy="9129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Produce una tabla que contiene únicamente aquellas tuplas de T que satisfacen el predicado p.</a:t>
            </a:r>
            <a:endParaRPr b="0" i="0" sz="1400" u="none" cap="none" strike="noStrike">
              <a:solidFill>
                <a:srgbClr val="000000"/>
              </a:solidFill>
              <a:latin typeface="Arial"/>
              <a:ea typeface="Arial"/>
              <a:cs typeface="Arial"/>
              <a:sym typeface="Arial"/>
            </a:endParaRPr>
          </a:p>
        </p:txBody>
      </p:sp>
      <p:sp>
        <p:nvSpPr>
          <p:cNvPr id="71" name="Google Shape;71;p3"/>
          <p:cNvSpPr txBox="1"/>
          <p:nvPr/>
        </p:nvSpPr>
        <p:spPr>
          <a:xfrm>
            <a:off x="1511312" y="2792775"/>
            <a:ext cx="2519400" cy="5715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Tabla persona</a:t>
            </a:r>
            <a:endParaRPr b="0" i="0" sz="1400" u="none" cap="none" strike="noStrike">
              <a:solidFill>
                <a:srgbClr val="000000"/>
              </a:solidFill>
              <a:latin typeface="Arial"/>
              <a:ea typeface="Arial"/>
              <a:cs typeface="Arial"/>
              <a:sym typeface="Arial"/>
            </a:endParaRPr>
          </a:p>
        </p:txBody>
      </p:sp>
      <p:sp>
        <p:nvSpPr>
          <p:cNvPr id="72" name="Google Shape;72;p3"/>
          <p:cNvSpPr txBox="1"/>
          <p:nvPr/>
        </p:nvSpPr>
        <p:spPr>
          <a:xfrm>
            <a:off x="4188337" y="3214637"/>
            <a:ext cx="3983100" cy="534900"/>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σ </a:t>
            </a:r>
            <a:r>
              <a:rPr b="1" baseline="-25000" lang="en-US" sz="2400"/>
              <a:t>N</a:t>
            </a:r>
            <a:r>
              <a:rPr b="1" baseline="-25000" i="0" lang="en-US" sz="2400" u="none" cap="none" strike="noStrike">
                <a:solidFill>
                  <a:srgbClr val="000000"/>
                </a:solidFill>
                <a:latin typeface="Arial"/>
                <a:ea typeface="Arial"/>
                <a:cs typeface="Arial"/>
                <a:sym typeface="Arial"/>
              </a:rPr>
              <a:t>ombre=‘Carlos’</a:t>
            </a:r>
            <a:r>
              <a:rPr b="1" i="0" lang="en-US" sz="2400" u="none" cap="none" strike="noStrike">
                <a:solidFill>
                  <a:srgbClr val="000000"/>
                </a:solidFill>
                <a:latin typeface="Arial"/>
                <a:ea typeface="Arial"/>
                <a:cs typeface="Arial"/>
                <a:sym typeface="Arial"/>
              </a:rPr>
              <a:t> (persona)</a:t>
            </a:r>
            <a:endParaRPr b="0" i="0" sz="1400" u="none" cap="none" strike="noStrike">
              <a:solidFill>
                <a:srgbClr val="000000"/>
              </a:solidFill>
              <a:latin typeface="Arial"/>
              <a:ea typeface="Arial"/>
              <a:cs typeface="Arial"/>
              <a:sym typeface="Arial"/>
            </a:endParaRPr>
          </a:p>
        </p:txBody>
      </p:sp>
      <p:graphicFrame>
        <p:nvGraphicFramePr>
          <p:cNvPr id="73" name="Google Shape;73;p3"/>
          <p:cNvGraphicFramePr/>
          <p:nvPr/>
        </p:nvGraphicFramePr>
        <p:xfrm>
          <a:off x="1248900" y="3214613"/>
          <a:ext cx="3000000" cy="3000000"/>
        </p:xfrm>
        <a:graphic>
          <a:graphicData uri="http://schemas.openxmlformats.org/drawingml/2006/table">
            <a:tbl>
              <a:tblPr>
                <a:noFill/>
                <a:tableStyleId>{AE646E5D-DD90-458A-8D95-EC3F55E9EFC7}</a:tableStyleId>
              </a:tblPr>
              <a:tblGrid>
                <a:gridCol w="1322925"/>
                <a:gridCol w="13229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B7B7B7"/>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Juan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Perez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74" name="Google Shape;74;p3"/>
          <p:cNvGraphicFramePr/>
          <p:nvPr/>
        </p:nvGraphicFramePr>
        <p:xfrm>
          <a:off x="8329050" y="3096263"/>
          <a:ext cx="3000000" cy="3000000"/>
        </p:xfrm>
        <a:graphic>
          <a:graphicData uri="http://schemas.openxmlformats.org/drawingml/2006/table">
            <a:tbl>
              <a:tblPr>
                <a:noFill/>
                <a:tableStyleId>{AE646E5D-DD90-458A-8D95-EC3F55E9EFC7}</a:tableStyleId>
              </a:tblPr>
              <a:tblGrid>
                <a:gridCol w="1488025"/>
                <a:gridCol w="14880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81" name="Shape 81"/>
        <p:cNvGrpSpPr/>
        <p:nvPr/>
      </p:nvGrpSpPr>
      <p:grpSpPr>
        <a:xfrm>
          <a:off x="0" y="0"/>
          <a:ext cx="0" cy="0"/>
          <a:chOff x="0" y="0"/>
          <a:chExt cx="0" cy="0"/>
        </a:xfrm>
      </p:grpSpPr>
      <p:sp>
        <p:nvSpPr>
          <p:cNvPr id="82" name="Google Shape;82;p4"/>
          <p:cNvSpPr txBox="1"/>
          <p:nvPr/>
        </p:nvSpPr>
        <p:spPr>
          <a:xfrm>
            <a:off x="1387475" y="138112"/>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5300"/>
              <a:buFont typeface="Arial"/>
              <a:buNone/>
            </a:pPr>
            <a:r>
              <a:rPr b="0" i="0" lang="en-US" sz="5300" u="none" cap="none" strike="noStrike">
                <a:solidFill>
                  <a:srgbClr val="333333"/>
                </a:solidFill>
                <a:latin typeface="Arial"/>
                <a:ea typeface="Arial"/>
                <a:cs typeface="Arial"/>
                <a:sym typeface="Arial"/>
              </a:rPr>
              <a:t>Operaciones - Proyección</a:t>
            </a:r>
            <a:endParaRPr b="0" i="0" sz="1400" u="none" cap="none" strike="noStrike">
              <a:solidFill>
                <a:srgbClr val="000000"/>
              </a:solidFill>
              <a:latin typeface="Arial"/>
              <a:ea typeface="Arial"/>
              <a:cs typeface="Arial"/>
              <a:sym typeface="Arial"/>
            </a:endParaRPr>
          </a:p>
        </p:txBody>
      </p:sp>
      <p:sp>
        <p:nvSpPr>
          <p:cNvPr id="83" name="Google Shape;83;p4"/>
          <p:cNvSpPr txBox="1"/>
          <p:nvPr/>
        </p:nvSpPr>
        <p:spPr>
          <a:xfrm>
            <a:off x="4572012" y="1036025"/>
            <a:ext cx="2519400" cy="457200"/>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rgbClr val="000000"/>
              </a:buClr>
              <a:buSzPts val="2400"/>
              <a:buFont typeface="Noto Sans Symbols"/>
              <a:buNone/>
            </a:pPr>
            <a:r>
              <a:rPr b="1" i="0" lang="en-US" sz="2400" u="none" cap="none" strike="noStrike">
                <a:solidFill>
                  <a:srgbClr val="000000"/>
                </a:solidFill>
                <a:latin typeface="Noto Sans Symbols"/>
                <a:ea typeface="Noto Sans Symbols"/>
                <a:cs typeface="Noto Sans Symbols"/>
                <a:sym typeface="Noto Sans Symbols"/>
              </a:rPr>
              <a:t>π</a:t>
            </a:r>
            <a:r>
              <a:rPr b="1" baseline="-25000" i="0" lang="en-US" sz="2400" u="none" cap="none" strike="noStrike">
                <a:solidFill>
                  <a:srgbClr val="000000"/>
                </a:solidFill>
                <a:latin typeface="Libre Baskerville"/>
                <a:ea typeface="Libre Baskerville"/>
                <a:cs typeface="Libre Baskerville"/>
                <a:sym typeface="Libre Baskerville"/>
              </a:rPr>
              <a:t>a1, … an</a:t>
            </a:r>
            <a:r>
              <a:rPr b="1" i="0" lang="en-US" sz="2400" u="none" cap="none" strike="noStrike">
                <a:solidFill>
                  <a:srgbClr val="000000"/>
                </a:solidFill>
                <a:latin typeface="Libre Baskerville"/>
                <a:ea typeface="Libre Baskerville"/>
                <a:cs typeface="Libre Baskerville"/>
                <a:sym typeface="Libre Baskerville"/>
              </a:rPr>
              <a:t> (T)</a:t>
            </a:r>
            <a:endParaRPr b="0" i="0" sz="1400" u="none" cap="none" strike="noStrike">
              <a:solidFill>
                <a:srgbClr val="000000"/>
              </a:solidFill>
              <a:latin typeface="Arial"/>
              <a:ea typeface="Arial"/>
              <a:cs typeface="Arial"/>
              <a:sym typeface="Arial"/>
            </a:endParaRPr>
          </a:p>
        </p:txBody>
      </p:sp>
      <p:sp>
        <p:nvSpPr>
          <p:cNvPr id="84" name="Google Shape;84;p4"/>
          <p:cNvSpPr txBox="1"/>
          <p:nvPr/>
        </p:nvSpPr>
        <p:spPr>
          <a:xfrm>
            <a:off x="845312" y="1574512"/>
            <a:ext cx="11018700" cy="696900"/>
          </a:xfrm>
          <a:prstGeom prst="rect">
            <a:avLst/>
          </a:prstGeom>
          <a:solidFill>
            <a:srgbClr val="F3F3F3"/>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Produce una tabla que tiene un subconjunto de atributos de T eliminando tuplas duplicadas.</a:t>
            </a:r>
            <a:endParaRPr b="0" i="0" sz="1400" u="none" cap="none" strike="noStrike">
              <a:solidFill>
                <a:srgbClr val="000000"/>
              </a:solidFill>
              <a:latin typeface="Arial"/>
              <a:ea typeface="Arial"/>
              <a:cs typeface="Arial"/>
              <a:sym typeface="Arial"/>
            </a:endParaRPr>
          </a:p>
        </p:txBody>
      </p:sp>
      <p:sp>
        <p:nvSpPr>
          <p:cNvPr id="85" name="Google Shape;85;p4"/>
          <p:cNvSpPr txBox="1"/>
          <p:nvPr/>
        </p:nvSpPr>
        <p:spPr>
          <a:xfrm>
            <a:off x="2411249" y="2693412"/>
            <a:ext cx="2519400" cy="516000"/>
          </a:xfrm>
          <a:prstGeom prst="rect">
            <a:avLst/>
          </a:prstGeom>
          <a:noFill/>
          <a:ln>
            <a:noFill/>
          </a:ln>
        </p:spPr>
        <p:txBody>
          <a:bodyPr anchorCtr="0" anchor="t" bIns="45000" lIns="90000" spcFirstLastPara="1" rIns="90000" wrap="square" tIns="45000">
            <a:noAutofit/>
          </a:bodyPr>
          <a:lstStyle/>
          <a:p>
            <a:pPr indent="0" lvl="0" marL="0" marR="0" rtl="0" algn="ctr">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persona</a:t>
            </a:r>
            <a:endParaRPr b="0" i="0" sz="1400" u="none" cap="none" strike="noStrike">
              <a:solidFill>
                <a:srgbClr val="000000"/>
              </a:solidFill>
              <a:latin typeface="Arial"/>
              <a:ea typeface="Arial"/>
              <a:cs typeface="Arial"/>
              <a:sym typeface="Arial"/>
            </a:endParaRPr>
          </a:p>
        </p:txBody>
      </p:sp>
      <p:sp>
        <p:nvSpPr>
          <p:cNvPr id="86" name="Google Shape;86;p4"/>
          <p:cNvSpPr txBox="1"/>
          <p:nvPr/>
        </p:nvSpPr>
        <p:spPr>
          <a:xfrm>
            <a:off x="5609850" y="4217362"/>
            <a:ext cx="3478200" cy="534900"/>
          </a:xfrm>
          <a:prstGeom prst="rect">
            <a:avLst/>
          </a:prstGeom>
          <a:noFill/>
          <a:ln>
            <a:noFill/>
          </a:ln>
        </p:spPr>
        <p:txBody>
          <a:bodyPr anchorCtr="0" anchor="t" bIns="45000" lIns="90000" spcFirstLastPara="1" rIns="90000" wrap="square" tIns="45000">
            <a:noAutofit/>
          </a:bodyPr>
          <a:lstStyle/>
          <a:p>
            <a:pPr indent="0" lvl="0" marL="0" marR="0" rtl="0" algn="ctr">
              <a:lnSpc>
                <a:spcPct val="119000"/>
              </a:lnSpc>
              <a:spcBef>
                <a:spcPts val="0"/>
              </a:spcBef>
              <a:spcAft>
                <a:spcPts val="0"/>
              </a:spcAft>
              <a:buClr>
                <a:srgbClr val="000000"/>
              </a:buClr>
              <a:buSzPts val="2400"/>
              <a:buFont typeface="Noto Sans Symbols"/>
              <a:buNone/>
            </a:pPr>
            <a:r>
              <a:rPr b="1" i="0" lang="en-US" sz="2400" u="none" cap="none" strike="noStrike">
                <a:solidFill>
                  <a:srgbClr val="000000"/>
                </a:solidFill>
                <a:latin typeface="Noto Sans Symbols"/>
                <a:ea typeface="Noto Sans Symbols"/>
                <a:cs typeface="Noto Sans Symbols"/>
                <a:sym typeface="Noto Sans Symbols"/>
              </a:rPr>
              <a:t>π </a:t>
            </a:r>
            <a:r>
              <a:rPr b="1" baseline="-25000" i="0" lang="en-US" sz="2400" u="none" cap="none" strike="noStrike">
                <a:solidFill>
                  <a:srgbClr val="000000"/>
                </a:solidFill>
                <a:latin typeface="Arial"/>
                <a:ea typeface="Arial"/>
                <a:cs typeface="Arial"/>
                <a:sym typeface="Arial"/>
              </a:rPr>
              <a:t>nombre </a:t>
            </a:r>
            <a:r>
              <a:rPr b="1" i="0" lang="en-US" sz="2400" u="none" cap="none" strike="noStrike">
                <a:solidFill>
                  <a:srgbClr val="000000"/>
                </a:solidFill>
                <a:latin typeface="Arial"/>
                <a:ea typeface="Arial"/>
                <a:cs typeface="Arial"/>
                <a:sym typeface="Arial"/>
              </a:rPr>
              <a:t>(persona)</a:t>
            </a:r>
            <a:endParaRPr b="0" i="0" sz="1400" u="none" cap="none" strike="noStrike">
              <a:solidFill>
                <a:srgbClr val="000000"/>
              </a:solidFill>
              <a:latin typeface="Arial"/>
              <a:ea typeface="Arial"/>
              <a:cs typeface="Arial"/>
              <a:sym typeface="Arial"/>
            </a:endParaRPr>
          </a:p>
        </p:txBody>
      </p:sp>
      <p:graphicFrame>
        <p:nvGraphicFramePr>
          <p:cNvPr id="87" name="Google Shape;87;p4"/>
          <p:cNvGraphicFramePr/>
          <p:nvPr/>
        </p:nvGraphicFramePr>
        <p:xfrm>
          <a:off x="1732000" y="3209350"/>
          <a:ext cx="3000000" cy="3000000"/>
        </p:xfrm>
        <a:graphic>
          <a:graphicData uri="http://schemas.openxmlformats.org/drawingml/2006/table">
            <a:tbl>
              <a:tblPr>
                <a:noFill/>
                <a:tableStyleId>{AE646E5D-DD90-458A-8D95-EC3F55E9EFC7}</a:tableStyleId>
              </a:tblPr>
              <a:tblGrid>
                <a:gridCol w="1962325"/>
                <a:gridCol w="19155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Carlos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chemeClr val="dk1"/>
                        </a:buClr>
                        <a:buSzPts val="1100"/>
                        <a:buFont typeface="Arial"/>
                        <a:buNone/>
                      </a:pPr>
                      <a:r>
                        <a:rPr lang="en-US" sz="1400" u="none" cap="none" strike="noStrike">
                          <a:solidFill>
                            <a:schemeClr val="dk1"/>
                          </a:solidFill>
                        </a:rPr>
                        <a:t>Griguol</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Juan</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Perez</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88" name="Google Shape;88;p4"/>
          <p:cNvGraphicFramePr/>
          <p:nvPr/>
        </p:nvGraphicFramePr>
        <p:xfrm>
          <a:off x="8874850" y="3307588"/>
          <a:ext cx="3000000" cy="3000000"/>
        </p:xfrm>
        <a:graphic>
          <a:graphicData uri="http://schemas.openxmlformats.org/drawingml/2006/table">
            <a:tbl>
              <a:tblPr>
                <a:noFill/>
                <a:tableStyleId>{AE646E5D-DD90-458A-8D95-EC3F55E9EFC7}</a:tableStyleId>
              </a:tblPr>
              <a:tblGrid>
                <a:gridCol w="156450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lnB cap="flat" cmpd="sng" w="9525">
                      <a:solidFill>
                        <a:srgbClr val="9E9E9E"/>
                      </a:solidFill>
                      <a:prstDash val="solid"/>
                      <a:round/>
                      <a:headEnd len="sm" w="sm" type="none"/>
                      <a:tailEnd len="sm" w="sm" type="none"/>
                    </a:lnB>
                    <a:solidFill>
                      <a:srgbClr val="D9D9D9"/>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Carlos </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Juan</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95" name="Shape 95"/>
        <p:cNvGrpSpPr/>
        <p:nvPr/>
      </p:nvGrpSpPr>
      <p:grpSpPr>
        <a:xfrm>
          <a:off x="0" y="0"/>
          <a:ext cx="0" cy="0"/>
          <a:chOff x="0" y="0"/>
          <a:chExt cx="0" cy="0"/>
        </a:xfrm>
      </p:grpSpPr>
      <p:sp>
        <p:nvSpPr>
          <p:cNvPr id="96" name="Google Shape;96;p5"/>
          <p:cNvSpPr txBox="1"/>
          <p:nvPr/>
        </p:nvSpPr>
        <p:spPr>
          <a:xfrm>
            <a:off x="1387475" y="138112"/>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5300"/>
              <a:buFont typeface="Arial"/>
              <a:buNone/>
            </a:pPr>
            <a:r>
              <a:rPr b="0" i="0" lang="en-US" sz="5300" u="none" cap="none" strike="noStrike">
                <a:solidFill>
                  <a:srgbClr val="333333"/>
                </a:solidFill>
                <a:latin typeface="Arial"/>
                <a:ea typeface="Arial"/>
                <a:cs typeface="Arial"/>
                <a:sym typeface="Arial"/>
              </a:rPr>
              <a:t>Operaciones - Unión</a:t>
            </a:r>
            <a:endParaRPr b="0" i="0" sz="1400" u="none" cap="none" strike="noStrike">
              <a:solidFill>
                <a:srgbClr val="000000"/>
              </a:solidFill>
              <a:latin typeface="Arial"/>
              <a:ea typeface="Arial"/>
              <a:cs typeface="Arial"/>
              <a:sym typeface="Arial"/>
            </a:endParaRPr>
          </a:p>
        </p:txBody>
      </p:sp>
      <p:sp>
        <p:nvSpPr>
          <p:cNvPr id="97" name="Google Shape;97;p5"/>
          <p:cNvSpPr txBox="1"/>
          <p:nvPr/>
        </p:nvSpPr>
        <p:spPr>
          <a:xfrm>
            <a:off x="1030975" y="3171012"/>
            <a:ext cx="25002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futbol</a:t>
            </a:r>
            <a:endParaRPr b="0" i="0" sz="1400" u="none" cap="none" strike="noStrike">
              <a:solidFill>
                <a:srgbClr val="000000"/>
              </a:solidFill>
              <a:latin typeface="Arial"/>
              <a:ea typeface="Arial"/>
              <a:cs typeface="Arial"/>
              <a:sym typeface="Arial"/>
            </a:endParaRPr>
          </a:p>
        </p:txBody>
      </p:sp>
      <p:sp>
        <p:nvSpPr>
          <p:cNvPr id="98" name="Google Shape;98;p5"/>
          <p:cNvSpPr txBox="1"/>
          <p:nvPr/>
        </p:nvSpPr>
        <p:spPr>
          <a:xfrm>
            <a:off x="7920037" y="431800"/>
            <a:ext cx="1792287" cy="4318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Libre Baskerville"/>
              <a:buNone/>
            </a:pPr>
            <a:r>
              <a:rPr b="1" i="0" lang="en-US" sz="2400" u="none" cap="none" strike="noStrike">
                <a:solidFill>
                  <a:srgbClr val="000000"/>
                </a:solidFill>
                <a:latin typeface="Libre Baskerville"/>
                <a:ea typeface="Libre Baskerville"/>
                <a:cs typeface="Libre Baskerville"/>
                <a:sym typeface="Libre Baskerville"/>
              </a:rPr>
              <a:t>T1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T2</a:t>
            </a:r>
            <a:endParaRPr b="0" i="0" sz="1400" u="none" cap="none" strike="noStrike">
              <a:solidFill>
                <a:srgbClr val="000000"/>
              </a:solidFill>
              <a:latin typeface="Arial"/>
              <a:ea typeface="Arial"/>
              <a:cs typeface="Arial"/>
              <a:sym typeface="Arial"/>
            </a:endParaRPr>
          </a:p>
        </p:txBody>
      </p:sp>
      <p:sp>
        <p:nvSpPr>
          <p:cNvPr id="99" name="Google Shape;99;p5"/>
          <p:cNvSpPr txBox="1"/>
          <p:nvPr/>
        </p:nvSpPr>
        <p:spPr>
          <a:xfrm>
            <a:off x="576262" y="1407387"/>
            <a:ext cx="11404500" cy="9843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Produce una tabla que contiene todas las tuplas de T1 más todas las de T2, eliminando tuplas duplicadas. T1 y T2 deben ser compatibles (sus esquemas deben ser equivalentes en la cantidad, posición y dominio de los atributos, aunque sus nombres sí pueden ser distintos).</a:t>
            </a:r>
            <a:endParaRPr b="0" i="0" sz="1400" u="none" cap="none" strike="noStrike">
              <a:solidFill>
                <a:srgbClr val="000000"/>
              </a:solidFill>
              <a:latin typeface="Arial"/>
              <a:ea typeface="Arial"/>
              <a:cs typeface="Arial"/>
              <a:sym typeface="Arial"/>
            </a:endParaRPr>
          </a:p>
        </p:txBody>
      </p:sp>
      <p:sp>
        <p:nvSpPr>
          <p:cNvPr id="100" name="Google Shape;100;p5"/>
          <p:cNvSpPr txBox="1"/>
          <p:nvPr/>
        </p:nvSpPr>
        <p:spPr>
          <a:xfrm>
            <a:off x="4103650" y="3168650"/>
            <a:ext cx="2519400" cy="4317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tenis</a:t>
            </a:r>
            <a:endParaRPr b="0" i="0" sz="1400" u="none" cap="none" strike="noStrike">
              <a:solidFill>
                <a:srgbClr val="000000"/>
              </a:solidFill>
              <a:latin typeface="Arial"/>
              <a:ea typeface="Arial"/>
              <a:cs typeface="Arial"/>
              <a:sym typeface="Arial"/>
            </a:endParaRPr>
          </a:p>
        </p:txBody>
      </p:sp>
      <p:sp>
        <p:nvSpPr>
          <p:cNvPr id="101" name="Google Shape;101;p5"/>
          <p:cNvSpPr txBox="1"/>
          <p:nvPr/>
        </p:nvSpPr>
        <p:spPr>
          <a:xfrm>
            <a:off x="6767512" y="4305300"/>
            <a:ext cx="2449512" cy="80645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futbol</a:t>
            </a:r>
            <a:r>
              <a:rPr b="0" i="0" lang="en-US" sz="2400" u="none" cap="none" strike="noStrike">
                <a:solidFill>
                  <a:srgbClr val="000000"/>
                </a:solidFill>
                <a:latin typeface="Libre Baskerville"/>
                <a:ea typeface="Libre Baskerville"/>
                <a:cs typeface="Libre Baskerville"/>
                <a:sym typeface="Libre Baskerville"/>
              </a:rPr>
              <a:t> </a:t>
            </a:r>
            <a:r>
              <a:rPr b="1"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Libre Baskerville"/>
                <a:ea typeface="Libre Baskerville"/>
                <a:cs typeface="Libre Baskerville"/>
                <a:sym typeface="Libre Baskerville"/>
              </a:rPr>
              <a:t> </a:t>
            </a:r>
            <a:r>
              <a:rPr b="0" i="0" lang="en-US" sz="2400" u="none" cap="none" strike="noStrike">
                <a:solidFill>
                  <a:srgbClr val="000000"/>
                </a:solidFill>
                <a:latin typeface="Arial"/>
                <a:ea typeface="Arial"/>
                <a:cs typeface="Arial"/>
                <a:sym typeface="Arial"/>
              </a:rPr>
              <a:t>tenis</a:t>
            </a:r>
            <a:endParaRPr b="0" i="0" sz="1400" u="none" cap="none" strike="noStrike">
              <a:solidFill>
                <a:srgbClr val="000000"/>
              </a:solidFill>
              <a:latin typeface="Arial"/>
              <a:ea typeface="Arial"/>
              <a:cs typeface="Arial"/>
              <a:sym typeface="Arial"/>
            </a:endParaRPr>
          </a:p>
        </p:txBody>
      </p:sp>
      <p:graphicFrame>
        <p:nvGraphicFramePr>
          <p:cNvPr id="102" name="Google Shape;102;p5"/>
          <p:cNvGraphicFramePr/>
          <p:nvPr/>
        </p:nvGraphicFramePr>
        <p:xfrm>
          <a:off x="931450" y="3860363"/>
          <a:ext cx="3000000" cy="3000000"/>
        </p:xfrm>
        <a:graphic>
          <a:graphicData uri="http://schemas.openxmlformats.org/drawingml/2006/table">
            <a:tbl>
              <a:tblPr>
                <a:noFill/>
                <a:tableStyleId>{AE646E5D-DD90-458A-8D95-EC3F55E9EFC7}</a:tableStyleId>
              </a:tblPr>
              <a:tblGrid>
                <a:gridCol w="1389100"/>
                <a:gridCol w="13891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103" name="Google Shape;103;p5"/>
          <p:cNvGraphicFramePr/>
          <p:nvPr/>
        </p:nvGraphicFramePr>
        <p:xfrm>
          <a:off x="3947675" y="3860363"/>
          <a:ext cx="3000000" cy="3000000"/>
        </p:xfrm>
        <a:graphic>
          <a:graphicData uri="http://schemas.openxmlformats.org/drawingml/2006/table">
            <a:tbl>
              <a:tblPr>
                <a:noFill/>
                <a:tableStyleId>{AE646E5D-DD90-458A-8D95-EC3F55E9EFC7}</a:tableStyleId>
              </a:tblPr>
              <a:tblGrid>
                <a:gridCol w="1322100"/>
                <a:gridCol w="12597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Rafael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Nadal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Roger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Federer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104" name="Google Shape;104;p5"/>
          <p:cNvGraphicFramePr/>
          <p:nvPr/>
        </p:nvGraphicFramePr>
        <p:xfrm>
          <a:off x="8811600" y="3271763"/>
          <a:ext cx="3000000" cy="3000000"/>
        </p:xfrm>
        <a:graphic>
          <a:graphicData uri="http://schemas.openxmlformats.org/drawingml/2006/table">
            <a:tbl>
              <a:tblPr>
                <a:noFill/>
                <a:tableStyleId>{AE646E5D-DD90-458A-8D95-EC3F55E9EFC7}</a:tableStyleId>
              </a:tblPr>
              <a:tblGrid>
                <a:gridCol w="1191125"/>
                <a:gridCol w="11755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Rafael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Nadal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Roger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Federer</a:t>
                      </a:r>
                      <a:endParaRPr sz="1400" u="none" cap="none" strike="noStrike"/>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12" name="Shape 112"/>
        <p:cNvGrpSpPr/>
        <p:nvPr/>
      </p:nvGrpSpPr>
      <p:grpSpPr>
        <a:xfrm>
          <a:off x="0" y="0"/>
          <a:ext cx="0" cy="0"/>
          <a:chOff x="0" y="0"/>
          <a:chExt cx="0" cy="0"/>
        </a:xfrm>
      </p:grpSpPr>
      <p:sp>
        <p:nvSpPr>
          <p:cNvPr id="113" name="Google Shape;113;p6"/>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5300"/>
              <a:buFont typeface="Arial"/>
              <a:buNone/>
            </a:pPr>
            <a:r>
              <a:rPr b="0" i="0" lang="en-US" sz="5300" u="none" cap="none" strike="noStrike">
                <a:solidFill>
                  <a:srgbClr val="333333"/>
                </a:solidFill>
                <a:latin typeface="Arial"/>
                <a:ea typeface="Arial"/>
                <a:cs typeface="Arial"/>
                <a:sym typeface="Arial"/>
              </a:rPr>
              <a:t>Operaciones - Intersección</a:t>
            </a:r>
            <a:endParaRPr b="0" i="0" sz="1400" u="none" cap="none" strike="noStrike">
              <a:solidFill>
                <a:srgbClr val="000000"/>
              </a:solidFill>
              <a:latin typeface="Arial"/>
              <a:ea typeface="Arial"/>
              <a:cs typeface="Arial"/>
              <a:sym typeface="Arial"/>
            </a:endParaRPr>
          </a:p>
        </p:txBody>
      </p:sp>
      <p:sp>
        <p:nvSpPr>
          <p:cNvPr id="114" name="Google Shape;114;p6"/>
          <p:cNvSpPr txBox="1"/>
          <p:nvPr/>
        </p:nvSpPr>
        <p:spPr>
          <a:xfrm>
            <a:off x="5110162" y="1439862"/>
            <a:ext cx="1657350" cy="4572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Libre Baskerville"/>
              <a:buNone/>
            </a:pPr>
            <a:r>
              <a:rPr b="1" i="0" lang="en-US" sz="2400" u="none" cap="none" strike="noStrike">
                <a:solidFill>
                  <a:srgbClr val="000000"/>
                </a:solidFill>
                <a:latin typeface="Libre Baskerville"/>
                <a:ea typeface="Libre Baskerville"/>
                <a:cs typeface="Libre Baskerville"/>
                <a:sym typeface="Libre Baskerville"/>
              </a:rPr>
              <a:t>T1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T2</a:t>
            </a:r>
            <a:endParaRPr b="0" i="0" sz="1400" u="none" cap="none" strike="noStrike">
              <a:solidFill>
                <a:srgbClr val="000000"/>
              </a:solidFill>
              <a:latin typeface="Arial"/>
              <a:ea typeface="Arial"/>
              <a:cs typeface="Arial"/>
              <a:sym typeface="Arial"/>
            </a:endParaRPr>
          </a:p>
        </p:txBody>
      </p:sp>
      <p:sp>
        <p:nvSpPr>
          <p:cNvPr id="115" name="Google Shape;115;p6"/>
          <p:cNvSpPr txBox="1"/>
          <p:nvPr/>
        </p:nvSpPr>
        <p:spPr>
          <a:xfrm>
            <a:off x="461962" y="1966912"/>
            <a:ext cx="11561762" cy="9144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Produce una tabla que contiene todas las tuplas que se encuentran tanto en T1 como en T2. T1 y T2 deben tener esquemas compatibles.</a:t>
            </a:r>
            <a:endParaRPr b="0" i="0" sz="1400" u="none" cap="none" strike="noStrike">
              <a:solidFill>
                <a:srgbClr val="000000"/>
              </a:solidFill>
              <a:latin typeface="Arial"/>
              <a:ea typeface="Arial"/>
              <a:cs typeface="Arial"/>
              <a:sym typeface="Arial"/>
            </a:endParaRPr>
          </a:p>
        </p:txBody>
      </p:sp>
      <p:sp>
        <p:nvSpPr>
          <p:cNvPr id="116" name="Google Shape;116;p6"/>
          <p:cNvSpPr txBox="1"/>
          <p:nvPr/>
        </p:nvSpPr>
        <p:spPr>
          <a:xfrm>
            <a:off x="6498287" y="4045787"/>
            <a:ext cx="2313000" cy="8064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futbol</a:t>
            </a:r>
            <a:r>
              <a:rPr b="1" i="0" lang="en-US" sz="2400" u="none" cap="none" strike="noStrike">
                <a:solidFill>
                  <a:srgbClr val="000000"/>
                </a:solidFill>
                <a:latin typeface="Libre Baskerville"/>
                <a:ea typeface="Libre Baskerville"/>
                <a:cs typeface="Libre Baskerville"/>
                <a:sym typeface="Libre Baskerville"/>
              </a:rPr>
              <a:t>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a:t>
            </a:r>
            <a:r>
              <a:rPr b="1" i="0" lang="en-US" sz="2400" u="none" cap="none" strike="noStrike">
                <a:solidFill>
                  <a:srgbClr val="000000"/>
                </a:solidFill>
                <a:latin typeface="Arial"/>
                <a:ea typeface="Arial"/>
                <a:cs typeface="Arial"/>
                <a:sym typeface="Arial"/>
              </a:rPr>
              <a:t>tenis</a:t>
            </a:r>
            <a:endParaRPr b="0" i="0" sz="1400" u="none" cap="none" strike="noStrike">
              <a:solidFill>
                <a:srgbClr val="000000"/>
              </a:solidFill>
              <a:latin typeface="Arial"/>
              <a:ea typeface="Arial"/>
              <a:cs typeface="Arial"/>
              <a:sym typeface="Arial"/>
            </a:endParaRPr>
          </a:p>
        </p:txBody>
      </p:sp>
      <p:sp>
        <p:nvSpPr>
          <p:cNvPr id="117" name="Google Shape;117;p6"/>
          <p:cNvSpPr txBox="1"/>
          <p:nvPr/>
        </p:nvSpPr>
        <p:spPr>
          <a:xfrm>
            <a:off x="1030975" y="3171012"/>
            <a:ext cx="25002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futbol</a:t>
            </a:r>
            <a:endParaRPr b="0" i="0" sz="1400" u="none" cap="none" strike="noStrike">
              <a:solidFill>
                <a:srgbClr val="000000"/>
              </a:solidFill>
              <a:latin typeface="Arial"/>
              <a:ea typeface="Arial"/>
              <a:cs typeface="Arial"/>
              <a:sym typeface="Arial"/>
            </a:endParaRPr>
          </a:p>
        </p:txBody>
      </p:sp>
      <p:sp>
        <p:nvSpPr>
          <p:cNvPr id="118" name="Google Shape;118;p6"/>
          <p:cNvSpPr txBox="1"/>
          <p:nvPr/>
        </p:nvSpPr>
        <p:spPr>
          <a:xfrm>
            <a:off x="4103650" y="3168650"/>
            <a:ext cx="2519400" cy="4317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tenis</a:t>
            </a:r>
            <a:endParaRPr b="0" i="0" sz="1400" u="none" cap="none" strike="noStrike">
              <a:solidFill>
                <a:srgbClr val="000000"/>
              </a:solidFill>
              <a:latin typeface="Arial"/>
              <a:ea typeface="Arial"/>
              <a:cs typeface="Arial"/>
              <a:sym typeface="Arial"/>
            </a:endParaRPr>
          </a:p>
        </p:txBody>
      </p:sp>
      <p:graphicFrame>
        <p:nvGraphicFramePr>
          <p:cNvPr id="119" name="Google Shape;119;p6"/>
          <p:cNvGraphicFramePr/>
          <p:nvPr/>
        </p:nvGraphicFramePr>
        <p:xfrm>
          <a:off x="931450" y="3860363"/>
          <a:ext cx="3000000" cy="3000000"/>
        </p:xfrm>
        <a:graphic>
          <a:graphicData uri="http://schemas.openxmlformats.org/drawingml/2006/table">
            <a:tbl>
              <a:tblPr>
                <a:noFill/>
                <a:tableStyleId>{AE646E5D-DD90-458A-8D95-EC3F55E9EFC7}</a:tableStyleId>
              </a:tblPr>
              <a:tblGrid>
                <a:gridCol w="1389100"/>
                <a:gridCol w="13891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120" name="Google Shape;120;p6"/>
          <p:cNvGraphicFramePr/>
          <p:nvPr/>
        </p:nvGraphicFramePr>
        <p:xfrm>
          <a:off x="3916475" y="3860363"/>
          <a:ext cx="3000000" cy="3000000"/>
        </p:xfrm>
        <a:graphic>
          <a:graphicData uri="http://schemas.openxmlformats.org/drawingml/2006/table">
            <a:tbl>
              <a:tblPr>
                <a:noFill/>
                <a:tableStyleId>{AE646E5D-DD90-458A-8D95-EC3F55E9EFC7}</a:tableStyleId>
              </a:tblPr>
              <a:tblGrid>
                <a:gridCol w="1322100"/>
                <a:gridCol w="12597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Rafael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Nadal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Roger</a:t>
                      </a:r>
                      <a:endParaRPr sz="14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Federer</a:t>
                      </a:r>
                      <a:endParaRPr sz="1400" u="none" cap="none" strike="noStrike"/>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21" name="Google Shape;121;p6"/>
          <p:cNvGraphicFramePr/>
          <p:nvPr/>
        </p:nvGraphicFramePr>
        <p:xfrm>
          <a:off x="8733275" y="3860363"/>
          <a:ext cx="3000000" cy="3000000"/>
        </p:xfrm>
        <a:graphic>
          <a:graphicData uri="http://schemas.openxmlformats.org/drawingml/2006/table">
            <a:tbl>
              <a:tblPr>
                <a:noFill/>
                <a:tableStyleId>{AE646E5D-DD90-458A-8D95-EC3F55E9EFC7}</a:tableStyleId>
              </a:tblPr>
              <a:tblGrid>
                <a:gridCol w="1191450"/>
                <a:gridCol w="11755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28" name="Shape 128"/>
        <p:cNvGrpSpPr/>
        <p:nvPr/>
      </p:nvGrpSpPr>
      <p:grpSpPr>
        <a:xfrm>
          <a:off x="0" y="0"/>
          <a:ext cx="0" cy="0"/>
          <a:chOff x="0" y="0"/>
          <a:chExt cx="0" cy="0"/>
        </a:xfrm>
      </p:grpSpPr>
      <p:sp>
        <p:nvSpPr>
          <p:cNvPr id="129" name="Google Shape;129;p9"/>
          <p:cNvSpPr txBox="1"/>
          <p:nvPr/>
        </p:nvSpPr>
        <p:spPr>
          <a:xfrm>
            <a:off x="1508125" y="52228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Arial"/>
              <a:buNone/>
            </a:pPr>
            <a:r>
              <a:rPr b="0" i="0" lang="en-US" sz="4800" u="none" cap="none" strike="noStrike">
                <a:solidFill>
                  <a:srgbClr val="333333"/>
                </a:solidFill>
                <a:latin typeface="Arial"/>
                <a:ea typeface="Arial"/>
                <a:cs typeface="Arial"/>
                <a:sym typeface="Arial"/>
              </a:rPr>
              <a:t>Operaciones – Diferencia</a:t>
            </a:r>
            <a:endParaRPr b="0" i="0" sz="1800" u="none" cap="none" strike="noStrike">
              <a:solidFill>
                <a:srgbClr val="000000"/>
              </a:solidFill>
              <a:latin typeface="Arial"/>
              <a:ea typeface="Arial"/>
              <a:cs typeface="Arial"/>
              <a:sym typeface="Arial"/>
            </a:endParaRPr>
          </a:p>
        </p:txBody>
      </p:sp>
      <p:sp>
        <p:nvSpPr>
          <p:cNvPr id="130" name="Google Shape;130;p9"/>
          <p:cNvSpPr txBox="1"/>
          <p:nvPr/>
        </p:nvSpPr>
        <p:spPr>
          <a:xfrm>
            <a:off x="8880125" y="670499"/>
            <a:ext cx="1287600" cy="4572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T1 – T2</a:t>
            </a:r>
            <a:endParaRPr b="0" i="0" sz="1400" u="none" cap="none" strike="noStrike">
              <a:solidFill>
                <a:srgbClr val="000000"/>
              </a:solidFill>
              <a:latin typeface="Arial"/>
              <a:ea typeface="Arial"/>
              <a:cs typeface="Arial"/>
              <a:sym typeface="Arial"/>
            </a:endParaRPr>
          </a:p>
        </p:txBody>
      </p:sp>
      <p:sp>
        <p:nvSpPr>
          <p:cNvPr id="131" name="Google Shape;131;p9"/>
          <p:cNvSpPr txBox="1"/>
          <p:nvPr/>
        </p:nvSpPr>
        <p:spPr>
          <a:xfrm>
            <a:off x="641350" y="1728787"/>
            <a:ext cx="10802937" cy="9144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Produce una tabla que contiene todas las tuplas de T1 que no se encuentran en T2. T1 y T2 deben tener esquemas compatibles.</a:t>
            </a:r>
            <a:endParaRPr b="0" i="0" sz="1400" u="none" cap="none" strike="noStrike">
              <a:solidFill>
                <a:srgbClr val="000000"/>
              </a:solidFill>
              <a:latin typeface="Arial"/>
              <a:ea typeface="Arial"/>
              <a:cs typeface="Arial"/>
              <a:sym typeface="Arial"/>
            </a:endParaRPr>
          </a:p>
        </p:txBody>
      </p:sp>
      <p:sp>
        <p:nvSpPr>
          <p:cNvPr id="132" name="Google Shape;132;p9"/>
          <p:cNvSpPr txBox="1"/>
          <p:nvPr/>
        </p:nvSpPr>
        <p:spPr>
          <a:xfrm>
            <a:off x="5929312" y="4311650"/>
            <a:ext cx="1800225" cy="627062"/>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futbol – tenis</a:t>
            </a:r>
            <a:endParaRPr b="0" i="0" sz="1400" u="none" cap="none" strike="noStrike">
              <a:solidFill>
                <a:srgbClr val="000000"/>
              </a:solidFill>
              <a:latin typeface="Arial"/>
              <a:ea typeface="Arial"/>
              <a:cs typeface="Arial"/>
              <a:sym typeface="Arial"/>
            </a:endParaRPr>
          </a:p>
        </p:txBody>
      </p:sp>
      <p:sp>
        <p:nvSpPr>
          <p:cNvPr id="133" name="Google Shape;133;p9"/>
          <p:cNvSpPr txBox="1"/>
          <p:nvPr/>
        </p:nvSpPr>
        <p:spPr>
          <a:xfrm>
            <a:off x="467925" y="3441700"/>
            <a:ext cx="22146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futbol</a:t>
            </a:r>
            <a:endParaRPr b="0" i="0" sz="1400" u="none" cap="none" strike="noStrike">
              <a:solidFill>
                <a:srgbClr val="000000"/>
              </a:solidFill>
              <a:latin typeface="Arial"/>
              <a:ea typeface="Arial"/>
              <a:cs typeface="Arial"/>
              <a:sym typeface="Arial"/>
            </a:endParaRPr>
          </a:p>
        </p:txBody>
      </p:sp>
      <p:sp>
        <p:nvSpPr>
          <p:cNvPr id="134" name="Google Shape;134;p9"/>
          <p:cNvSpPr txBox="1"/>
          <p:nvPr/>
        </p:nvSpPr>
        <p:spPr>
          <a:xfrm>
            <a:off x="3360897" y="3441700"/>
            <a:ext cx="24222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tenis</a:t>
            </a:r>
            <a:endParaRPr b="0" i="0" sz="1400" u="none" cap="none" strike="noStrike">
              <a:solidFill>
                <a:srgbClr val="000000"/>
              </a:solidFill>
              <a:latin typeface="Arial"/>
              <a:ea typeface="Arial"/>
              <a:cs typeface="Arial"/>
              <a:sym typeface="Arial"/>
            </a:endParaRPr>
          </a:p>
        </p:txBody>
      </p:sp>
      <p:graphicFrame>
        <p:nvGraphicFramePr>
          <p:cNvPr id="135" name="Google Shape;135;p9"/>
          <p:cNvGraphicFramePr/>
          <p:nvPr/>
        </p:nvGraphicFramePr>
        <p:xfrm>
          <a:off x="478600" y="4146088"/>
          <a:ext cx="3000000" cy="3000000"/>
        </p:xfrm>
        <a:graphic>
          <a:graphicData uri="http://schemas.openxmlformats.org/drawingml/2006/table">
            <a:tbl>
              <a:tblPr>
                <a:noFill/>
                <a:tableStyleId>{AE646E5D-DD90-458A-8D95-EC3F55E9EFC7}</a:tableStyleId>
              </a:tblPr>
              <a:tblGrid>
                <a:gridCol w="1096600"/>
                <a:gridCol w="10966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36" name="Google Shape;136;p9"/>
          <p:cNvGraphicFramePr/>
          <p:nvPr/>
        </p:nvGraphicFramePr>
        <p:xfrm>
          <a:off x="3264250" y="4146088"/>
          <a:ext cx="3000000" cy="3000000"/>
        </p:xfrm>
        <a:graphic>
          <a:graphicData uri="http://schemas.openxmlformats.org/drawingml/2006/table">
            <a:tbl>
              <a:tblPr>
                <a:noFill/>
                <a:tableStyleId>{AE646E5D-DD90-458A-8D95-EC3F55E9EFC7}</a:tableStyleId>
              </a:tblPr>
              <a:tblGrid>
                <a:gridCol w="1096600"/>
                <a:gridCol w="10966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Rafael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Nadal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Roger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Federer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Gustavo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bl>
          </a:graphicData>
        </a:graphic>
      </p:graphicFrame>
      <p:graphicFrame>
        <p:nvGraphicFramePr>
          <p:cNvPr id="137" name="Google Shape;137;p9"/>
          <p:cNvGraphicFramePr/>
          <p:nvPr/>
        </p:nvGraphicFramePr>
        <p:xfrm>
          <a:off x="8427325" y="4239688"/>
          <a:ext cx="3000000" cy="3000000"/>
        </p:xfrm>
        <a:graphic>
          <a:graphicData uri="http://schemas.openxmlformats.org/drawingml/2006/table">
            <a:tbl>
              <a:tblPr>
                <a:noFill/>
                <a:tableStyleId>{AE646E5D-DD90-458A-8D95-EC3F55E9EFC7}</a:tableStyleId>
              </a:tblPr>
              <a:tblGrid>
                <a:gridCol w="1096600"/>
                <a:gridCol w="10966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44" name="Shape 144"/>
        <p:cNvGrpSpPr/>
        <p:nvPr/>
      </p:nvGrpSpPr>
      <p:grpSpPr>
        <a:xfrm>
          <a:off x="0" y="0"/>
          <a:ext cx="0" cy="0"/>
          <a:chOff x="0" y="0"/>
          <a:chExt cx="0" cy="0"/>
        </a:xfrm>
      </p:grpSpPr>
      <p:sp>
        <p:nvSpPr>
          <p:cNvPr id="145" name="Google Shape;145;p7"/>
          <p:cNvSpPr txBox="1"/>
          <p:nvPr/>
        </p:nvSpPr>
        <p:spPr>
          <a:xfrm>
            <a:off x="1511300" y="144462"/>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Arial"/>
              <a:buNone/>
            </a:pPr>
            <a:r>
              <a:rPr b="0" i="0" lang="en-US" sz="4400" u="none" cap="none" strike="noStrike">
                <a:solidFill>
                  <a:srgbClr val="333333"/>
                </a:solidFill>
                <a:latin typeface="Arial"/>
                <a:ea typeface="Arial"/>
                <a:cs typeface="Arial"/>
                <a:sym typeface="Arial"/>
              </a:rPr>
              <a:t>Operaciones – producto cartesiano</a:t>
            </a:r>
            <a:endParaRPr b="0" i="0" sz="1400" u="none" cap="none" strike="noStrike">
              <a:solidFill>
                <a:srgbClr val="000000"/>
              </a:solidFill>
              <a:latin typeface="Arial"/>
              <a:ea typeface="Arial"/>
              <a:cs typeface="Arial"/>
              <a:sym typeface="Arial"/>
            </a:endParaRPr>
          </a:p>
        </p:txBody>
      </p:sp>
      <p:sp>
        <p:nvSpPr>
          <p:cNvPr id="146" name="Google Shape;146;p7"/>
          <p:cNvSpPr txBox="1"/>
          <p:nvPr/>
        </p:nvSpPr>
        <p:spPr>
          <a:xfrm>
            <a:off x="4895850" y="838200"/>
            <a:ext cx="1655762" cy="4572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Libre Baskerville"/>
              <a:buNone/>
            </a:pPr>
            <a:r>
              <a:rPr b="1" i="0" lang="en-US" sz="2400" u="none" cap="none" strike="noStrike">
                <a:solidFill>
                  <a:srgbClr val="000000"/>
                </a:solidFill>
                <a:latin typeface="Libre Baskerville"/>
                <a:ea typeface="Libre Baskerville"/>
                <a:cs typeface="Libre Baskerville"/>
                <a:sym typeface="Libre Baskerville"/>
              </a:rPr>
              <a:t>T1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T2</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1039825" y="1383150"/>
            <a:ext cx="10091700" cy="9144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Produce una tabla concatenando cada tupla de T1 con todas las tuplas de T2.</a:t>
            </a:r>
            <a:endParaRPr b="0" i="0" sz="1400" u="none" cap="none" strike="noStrike">
              <a:solidFill>
                <a:srgbClr val="000000"/>
              </a:solidFill>
              <a:latin typeface="Arial"/>
              <a:ea typeface="Arial"/>
              <a:cs typeface="Arial"/>
              <a:sym typeface="Arial"/>
            </a:endParaRPr>
          </a:p>
        </p:txBody>
      </p:sp>
      <p:sp>
        <p:nvSpPr>
          <p:cNvPr id="148" name="Google Shape;148;p7"/>
          <p:cNvSpPr txBox="1"/>
          <p:nvPr/>
        </p:nvSpPr>
        <p:spPr>
          <a:xfrm>
            <a:off x="4203812" y="2639287"/>
            <a:ext cx="2347800" cy="3747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Arial"/>
              <a:buNone/>
            </a:pPr>
            <a:r>
              <a:rPr b="1" i="0" lang="en-US" sz="1800" u="none" cap="none" strike="noStrike">
                <a:solidFill>
                  <a:srgbClr val="000000"/>
                </a:solidFill>
                <a:latin typeface="Arial"/>
                <a:ea typeface="Arial"/>
                <a:cs typeface="Arial"/>
                <a:sym typeface="Arial"/>
              </a:rPr>
              <a:t>persona x localidad</a:t>
            </a:r>
            <a:endParaRPr b="0" i="0" sz="1800" u="none" cap="none" strike="noStrike">
              <a:solidFill>
                <a:srgbClr val="000000"/>
              </a:solidFill>
              <a:latin typeface="Arial"/>
              <a:ea typeface="Arial"/>
              <a:cs typeface="Arial"/>
              <a:sym typeface="Arial"/>
            </a:endParaRPr>
          </a:p>
        </p:txBody>
      </p:sp>
      <p:sp>
        <p:nvSpPr>
          <p:cNvPr id="149" name="Google Shape;149;p7"/>
          <p:cNvSpPr txBox="1"/>
          <p:nvPr/>
        </p:nvSpPr>
        <p:spPr>
          <a:xfrm>
            <a:off x="328737" y="2521812"/>
            <a:ext cx="25002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persona</a:t>
            </a:r>
            <a:endParaRPr b="0" i="0" sz="1400" u="none" cap="none" strike="noStrike">
              <a:solidFill>
                <a:srgbClr val="000000"/>
              </a:solidFill>
              <a:latin typeface="Arial"/>
              <a:ea typeface="Arial"/>
              <a:cs typeface="Arial"/>
              <a:sym typeface="Arial"/>
            </a:endParaRPr>
          </a:p>
        </p:txBody>
      </p:sp>
      <p:sp>
        <p:nvSpPr>
          <p:cNvPr id="150" name="Google Shape;150;p7"/>
          <p:cNvSpPr txBox="1"/>
          <p:nvPr/>
        </p:nvSpPr>
        <p:spPr>
          <a:xfrm>
            <a:off x="328713" y="4962425"/>
            <a:ext cx="33819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localidad</a:t>
            </a:r>
            <a:endParaRPr b="0" i="0" sz="1400" u="none" cap="none" strike="noStrike">
              <a:solidFill>
                <a:srgbClr val="000000"/>
              </a:solidFill>
              <a:latin typeface="Arial"/>
              <a:ea typeface="Arial"/>
              <a:cs typeface="Arial"/>
              <a:sym typeface="Arial"/>
            </a:endParaRPr>
          </a:p>
        </p:txBody>
      </p:sp>
      <p:graphicFrame>
        <p:nvGraphicFramePr>
          <p:cNvPr id="151" name="Google Shape;151;p7"/>
          <p:cNvGraphicFramePr/>
          <p:nvPr/>
        </p:nvGraphicFramePr>
        <p:xfrm>
          <a:off x="482225" y="3024713"/>
          <a:ext cx="3000000" cy="3000000"/>
        </p:xfrm>
        <a:graphic>
          <a:graphicData uri="http://schemas.openxmlformats.org/drawingml/2006/table">
            <a:tbl>
              <a:tblPr>
                <a:noFill/>
                <a:tableStyleId>{AE646E5D-DD90-458A-8D95-EC3F55E9EFC7}</a:tableStyleId>
              </a:tblPr>
              <a:tblGrid>
                <a:gridCol w="1074075"/>
                <a:gridCol w="889875"/>
                <a:gridCol w="12582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bl>
          </a:graphicData>
        </a:graphic>
      </p:graphicFrame>
      <p:graphicFrame>
        <p:nvGraphicFramePr>
          <p:cNvPr id="152" name="Google Shape;152;p7"/>
          <p:cNvGraphicFramePr/>
          <p:nvPr/>
        </p:nvGraphicFramePr>
        <p:xfrm>
          <a:off x="482225" y="5478413"/>
          <a:ext cx="3000000" cy="3000000"/>
        </p:xfrm>
        <a:graphic>
          <a:graphicData uri="http://schemas.openxmlformats.org/drawingml/2006/table">
            <a:tbl>
              <a:tblPr>
                <a:noFill/>
                <a:tableStyleId>{AE646E5D-DD90-458A-8D95-EC3F55E9EFC7}</a:tableStyleId>
              </a:tblPr>
              <a:tblGrid>
                <a:gridCol w="867650"/>
                <a:gridCol w="23545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nombreLoc</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tc>
              </a:tr>
            </a:tbl>
          </a:graphicData>
        </a:graphic>
      </p:graphicFrame>
      <p:graphicFrame>
        <p:nvGraphicFramePr>
          <p:cNvPr id="153" name="Google Shape;153;p7"/>
          <p:cNvGraphicFramePr/>
          <p:nvPr/>
        </p:nvGraphicFramePr>
        <p:xfrm>
          <a:off x="4422625" y="3101213"/>
          <a:ext cx="3000000" cy="3000000"/>
        </p:xfrm>
        <a:graphic>
          <a:graphicData uri="http://schemas.openxmlformats.org/drawingml/2006/table">
            <a:tbl>
              <a:tblPr>
                <a:noFill/>
                <a:tableStyleId>{AE646E5D-DD90-458A-8D95-EC3F55E9EFC7}</a:tableStyleId>
              </a:tblPr>
              <a:tblGrid>
                <a:gridCol w="1103600"/>
                <a:gridCol w="1103600"/>
                <a:gridCol w="842775"/>
                <a:gridCol w="908025"/>
                <a:gridCol w="1560000"/>
              </a:tblGrid>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persona.codLoc</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localidad.codLoc</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nombreLoc</a:t>
                      </a:r>
                      <a:endParaRPr sz="1400" u="none" cap="none" strike="noStrike"/>
                    </a:p>
                  </a:txBody>
                  <a:tcPr marT="91425" marB="91425" marR="91425" marL="91425">
                    <a:solidFill>
                      <a:srgbClr val="D9D9D9"/>
                    </a:solidFill>
                  </a:tcPr>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solidFill>
                      <a:srgbClr val="E6B8AF"/>
                    </a:solidFill>
                  </a:tcPr>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solidFill>
                      <a:srgbClr val="E6B8AF"/>
                    </a:solidFill>
                  </a:tcPr>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509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E6B8A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solidFill>
                      <a:srgbClr val="E6B8A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60" name="Shape 160"/>
        <p:cNvGrpSpPr/>
        <p:nvPr/>
      </p:nvGrpSpPr>
      <p:grpSpPr>
        <a:xfrm>
          <a:off x="0" y="0"/>
          <a:ext cx="0" cy="0"/>
          <a:chOff x="0" y="0"/>
          <a:chExt cx="0" cy="0"/>
        </a:xfrm>
      </p:grpSpPr>
      <p:sp>
        <p:nvSpPr>
          <p:cNvPr id="161" name="Google Shape;161;p8"/>
          <p:cNvSpPr txBox="1"/>
          <p:nvPr/>
        </p:nvSpPr>
        <p:spPr>
          <a:xfrm>
            <a:off x="1427437" y="230500"/>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3600"/>
              <a:buFont typeface="Arial"/>
              <a:buNone/>
            </a:pPr>
            <a:r>
              <a:rPr b="0" i="0" lang="en-US" sz="3600" u="none" cap="none" strike="noStrike">
                <a:solidFill>
                  <a:srgbClr val="333333"/>
                </a:solidFill>
                <a:latin typeface="Arial"/>
                <a:ea typeface="Arial"/>
                <a:cs typeface="Arial"/>
                <a:sym typeface="Arial"/>
              </a:rPr>
              <a:t>Operaciones – producto natural</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595325" y="1014400"/>
            <a:ext cx="11307300" cy="6621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Produce una tabla concatenando tuplas de ambas tablas que tengan valores iguales en atributos con igual nombre (equicombinación). Se elimina uno de los ejemplares de cada atributo común.</a:t>
            </a:r>
            <a:endParaRPr b="0" i="0" sz="1400" u="none" cap="none" strike="noStrike">
              <a:solidFill>
                <a:srgbClr val="000000"/>
              </a:solidFill>
              <a:latin typeface="Arial"/>
              <a:ea typeface="Arial"/>
              <a:cs typeface="Arial"/>
              <a:sym typeface="Arial"/>
            </a:endParaRPr>
          </a:p>
        </p:txBody>
      </p:sp>
      <p:sp>
        <p:nvSpPr>
          <p:cNvPr id="163" name="Google Shape;163;p8"/>
          <p:cNvSpPr txBox="1"/>
          <p:nvPr/>
        </p:nvSpPr>
        <p:spPr>
          <a:xfrm>
            <a:off x="8305537" y="374987"/>
            <a:ext cx="1795500" cy="4572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Libre Baskerville"/>
              <a:buNone/>
            </a:pPr>
            <a:r>
              <a:rPr b="1" i="0" lang="en-US" sz="2400" u="none" cap="none" strike="noStrike">
                <a:solidFill>
                  <a:srgbClr val="000000"/>
                </a:solidFill>
                <a:latin typeface="Libre Baskerville"/>
                <a:ea typeface="Libre Baskerville"/>
                <a:cs typeface="Libre Baskerville"/>
                <a:sym typeface="Libre Baskerville"/>
              </a:rPr>
              <a:t>T1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T2</a:t>
            </a:r>
            <a:endParaRPr b="0" i="0" sz="1400" u="none" cap="none" strike="noStrike">
              <a:solidFill>
                <a:srgbClr val="000000"/>
              </a:solidFill>
              <a:latin typeface="Arial"/>
              <a:ea typeface="Arial"/>
              <a:cs typeface="Arial"/>
              <a:sym typeface="Arial"/>
            </a:endParaRPr>
          </a:p>
        </p:txBody>
      </p:sp>
      <p:graphicFrame>
        <p:nvGraphicFramePr>
          <p:cNvPr id="164" name="Google Shape;164;p8"/>
          <p:cNvGraphicFramePr/>
          <p:nvPr/>
        </p:nvGraphicFramePr>
        <p:xfrm>
          <a:off x="4880613" y="2260301"/>
          <a:ext cx="3000000" cy="3000000"/>
        </p:xfrm>
        <a:graphic>
          <a:graphicData uri="http://schemas.openxmlformats.org/drawingml/2006/table">
            <a:tbl>
              <a:tblPr>
                <a:noFill/>
                <a:tableStyleId>{AE646E5D-DD90-458A-8D95-EC3F55E9EFC7}</a:tableStyleId>
              </a:tblPr>
              <a:tblGrid>
                <a:gridCol w="1587575"/>
                <a:gridCol w="1587575"/>
                <a:gridCol w="1587575"/>
                <a:gridCol w="15875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nombreLoc</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bl>
          </a:graphicData>
        </a:graphic>
      </p:graphicFrame>
      <p:sp>
        <p:nvSpPr>
          <p:cNvPr id="165" name="Google Shape;165;p8"/>
          <p:cNvSpPr txBox="1"/>
          <p:nvPr/>
        </p:nvSpPr>
        <p:spPr>
          <a:xfrm>
            <a:off x="368149" y="1783225"/>
            <a:ext cx="25002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persona</a:t>
            </a:r>
            <a:endParaRPr b="0" i="0" sz="1400" u="none" cap="none" strike="noStrike">
              <a:solidFill>
                <a:srgbClr val="000000"/>
              </a:solidFill>
              <a:latin typeface="Arial"/>
              <a:ea typeface="Arial"/>
              <a:cs typeface="Arial"/>
              <a:sym typeface="Arial"/>
            </a:endParaRPr>
          </a:p>
        </p:txBody>
      </p:sp>
      <p:sp>
        <p:nvSpPr>
          <p:cNvPr id="166" name="Google Shape;166;p8"/>
          <p:cNvSpPr txBox="1"/>
          <p:nvPr/>
        </p:nvSpPr>
        <p:spPr>
          <a:xfrm>
            <a:off x="441800" y="4270913"/>
            <a:ext cx="33819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localidad</a:t>
            </a:r>
            <a:endParaRPr b="0" i="0" sz="1400" u="none" cap="none" strike="noStrike">
              <a:solidFill>
                <a:srgbClr val="000000"/>
              </a:solidFill>
              <a:latin typeface="Arial"/>
              <a:ea typeface="Arial"/>
              <a:cs typeface="Arial"/>
              <a:sym typeface="Arial"/>
            </a:endParaRPr>
          </a:p>
        </p:txBody>
      </p:sp>
      <p:graphicFrame>
        <p:nvGraphicFramePr>
          <p:cNvPr id="167" name="Google Shape;167;p8"/>
          <p:cNvGraphicFramePr/>
          <p:nvPr/>
        </p:nvGraphicFramePr>
        <p:xfrm>
          <a:off x="521638" y="2286126"/>
          <a:ext cx="3000000" cy="3000000"/>
        </p:xfrm>
        <a:graphic>
          <a:graphicData uri="http://schemas.openxmlformats.org/drawingml/2006/table">
            <a:tbl>
              <a:tblPr>
                <a:noFill/>
                <a:tableStyleId>{AE646E5D-DD90-458A-8D95-EC3F55E9EFC7}</a:tableStyleId>
              </a:tblPr>
              <a:tblGrid>
                <a:gridCol w="1074075"/>
                <a:gridCol w="889875"/>
                <a:gridCol w="12582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Bilardo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bl>
          </a:graphicData>
        </a:graphic>
      </p:graphicFrame>
      <p:graphicFrame>
        <p:nvGraphicFramePr>
          <p:cNvPr id="168" name="Google Shape;168;p8"/>
          <p:cNvGraphicFramePr/>
          <p:nvPr/>
        </p:nvGraphicFramePr>
        <p:xfrm>
          <a:off x="595313" y="4786900"/>
          <a:ext cx="3000000" cy="3000000"/>
        </p:xfrm>
        <a:graphic>
          <a:graphicData uri="http://schemas.openxmlformats.org/drawingml/2006/table">
            <a:tbl>
              <a:tblPr>
                <a:noFill/>
                <a:tableStyleId>{AE646E5D-DD90-458A-8D95-EC3F55E9EFC7}</a:tableStyleId>
              </a:tblPr>
              <a:tblGrid>
                <a:gridCol w="832100"/>
                <a:gridCol w="22581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nombreLoc</a:t>
                      </a:r>
                      <a:endParaRPr sz="1400" u="none" cap="none" strike="noStrike"/>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tc>
              </a:tr>
            </a:tbl>
          </a:graphicData>
        </a:graphic>
      </p:graphicFrame>
      <p:sp>
        <p:nvSpPr>
          <p:cNvPr id="169" name="Google Shape;169;p8"/>
          <p:cNvSpPr txBox="1"/>
          <p:nvPr/>
        </p:nvSpPr>
        <p:spPr>
          <a:xfrm>
            <a:off x="4850725" y="1783225"/>
            <a:ext cx="34548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persona |x| localidad</a:t>
            </a:r>
            <a:endParaRPr b="0" i="0" sz="1400" u="none" cap="none" strike="noStrike">
              <a:solidFill>
                <a:srgbClr val="000000"/>
              </a:solidFill>
              <a:latin typeface="Arial"/>
              <a:ea typeface="Arial"/>
              <a:cs typeface="Arial"/>
              <a:sym typeface="Arial"/>
            </a:endParaRPr>
          </a:p>
        </p:txBody>
      </p:sp>
      <p:sp>
        <p:nvSpPr>
          <p:cNvPr id="170" name="Google Shape;170;p8"/>
          <p:cNvSpPr txBox="1"/>
          <p:nvPr/>
        </p:nvSpPr>
        <p:spPr>
          <a:xfrm>
            <a:off x="4850725" y="4270925"/>
            <a:ext cx="6350400" cy="22056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77" name="Shape 177"/>
        <p:cNvGrpSpPr/>
        <p:nvPr/>
      </p:nvGrpSpPr>
      <p:grpSpPr>
        <a:xfrm>
          <a:off x="0" y="0"/>
          <a:ext cx="0" cy="0"/>
          <a:chOff x="0" y="0"/>
          <a:chExt cx="0" cy="0"/>
        </a:xfrm>
      </p:grpSpPr>
      <p:sp>
        <p:nvSpPr>
          <p:cNvPr id="178" name="Google Shape;178;p11"/>
          <p:cNvSpPr txBox="1"/>
          <p:nvPr/>
        </p:nvSpPr>
        <p:spPr>
          <a:xfrm>
            <a:off x="1508125" y="52228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Arial"/>
              <a:buNone/>
            </a:pPr>
            <a:r>
              <a:rPr b="0" i="0" lang="en-US" sz="4400" u="none" cap="none" strike="noStrike">
                <a:solidFill>
                  <a:srgbClr val="333333"/>
                </a:solidFill>
                <a:latin typeface="Arial"/>
                <a:ea typeface="Arial"/>
                <a:cs typeface="Arial"/>
                <a:sym typeface="Arial"/>
              </a:rPr>
              <a:t>Operaciones – Renombre</a:t>
            </a:r>
            <a:endParaRPr b="0" i="0" sz="1400" u="none" cap="none" strike="noStrike">
              <a:solidFill>
                <a:srgbClr val="000000"/>
              </a:solidFill>
              <a:latin typeface="Arial"/>
              <a:ea typeface="Arial"/>
              <a:cs typeface="Arial"/>
              <a:sym typeface="Arial"/>
            </a:endParaRPr>
          </a:p>
        </p:txBody>
      </p:sp>
      <p:sp>
        <p:nvSpPr>
          <p:cNvPr id="179" name="Google Shape;179;p11"/>
          <p:cNvSpPr/>
          <p:nvPr/>
        </p:nvSpPr>
        <p:spPr>
          <a:xfrm>
            <a:off x="2749550" y="3471862"/>
            <a:ext cx="106997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80" name="Google Shape;180;p11"/>
          <p:cNvSpPr/>
          <p:nvPr/>
        </p:nvSpPr>
        <p:spPr>
          <a:xfrm>
            <a:off x="5214937" y="3482975"/>
            <a:ext cx="93662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81" name="Google Shape;181;p11"/>
          <p:cNvSpPr txBox="1"/>
          <p:nvPr/>
        </p:nvSpPr>
        <p:spPr>
          <a:xfrm>
            <a:off x="4392612" y="1200150"/>
            <a:ext cx="2374900" cy="457200"/>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rgbClr val="000000"/>
              </a:buClr>
              <a:buSzPts val="2400"/>
              <a:buFont typeface="Noto Sans Symbols"/>
              <a:buNone/>
            </a:pPr>
            <a:r>
              <a:rPr b="1" i="0" lang="en-US" sz="2400" u="none" cap="none" strike="noStrike">
                <a:solidFill>
                  <a:srgbClr val="000000"/>
                </a:solidFill>
                <a:latin typeface="Noto Sans Symbols"/>
                <a:ea typeface="Noto Sans Symbols"/>
                <a:cs typeface="Noto Sans Symbols"/>
                <a:sym typeface="Noto Sans Symbols"/>
              </a:rPr>
              <a:t>ρ</a:t>
            </a:r>
            <a:r>
              <a:rPr b="1" i="0" lang="en-US" sz="2400" u="none" cap="none" strike="noStrike">
                <a:solidFill>
                  <a:srgbClr val="000000"/>
                </a:solidFill>
                <a:latin typeface="Libre Baskerville"/>
                <a:ea typeface="Libre Baskerville"/>
                <a:cs typeface="Libre Baskerville"/>
                <a:sym typeface="Libre Baskerville"/>
              </a:rPr>
              <a:t>T (Table)</a:t>
            </a:r>
            <a:endParaRPr b="0" i="0" sz="1400" u="none" cap="none" strike="noStrike">
              <a:solidFill>
                <a:srgbClr val="000000"/>
              </a:solidFill>
              <a:latin typeface="Arial"/>
              <a:ea typeface="Arial"/>
              <a:cs typeface="Arial"/>
              <a:sym typeface="Arial"/>
            </a:endParaRPr>
          </a:p>
        </p:txBody>
      </p:sp>
      <p:sp>
        <p:nvSpPr>
          <p:cNvPr id="182" name="Google Shape;182;p11"/>
          <p:cNvSpPr txBox="1"/>
          <p:nvPr/>
        </p:nvSpPr>
        <p:spPr>
          <a:xfrm>
            <a:off x="3095625" y="1800225"/>
            <a:ext cx="5111750" cy="914400"/>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Renombra la tabla Table a T.</a:t>
            </a:r>
            <a:endParaRPr b="0" i="0" sz="1400" u="none" cap="none" strike="noStrike">
              <a:solidFill>
                <a:srgbClr val="000000"/>
              </a:solidFill>
              <a:latin typeface="Arial"/>
              <a:ea typeface="Arial"/>
              <a:cs typeface="Arial"/>
              <a:sym typeface="Arial"/>
            </a:endParaRPr>
          </a:p>
        </p:txBody>
      </p:sp>
      <p:sp>
        <p:nvSpPr>
          <p:cNvPr id="183" name="Google Shape;183;p11"/>
          <p:cNvSpPr txBox="1"/>
          <p:nvPr/>
        </p:nvSpPr>
        <p:spPr>
          <a:xfrm>
            <a:off x="1223962" y="3168650"/>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Arial"/>
              <a:buNone/>
            </a:pPr>
            <a:r>
              <a:rPr b="0" i="0" lang="en-US" sz="4400" u="none" cap="none" strike="noStrike">
                <a:solidFill>
                  <a:srgbClr val="333333"/>
                </a:solidFill>
                <a:latin typeface="Arial"/>
                <a:ea typeface="Arial"/>
                <a:cs typeface="Arial"/>
                <a:sym typeface="Arial"/>
              </a:rPr>
              <a:t>Operaciones – Asignación</a:t>
            </a:r>
            <a:endParaRPr b="0" i="0" sz="1400" u="none" cap="none" strike="noStrike">
              <a:solidFill>
                <a:srgbClr val="000000"/>
              </a:solidFill>
              <a:latin typeface="Arial"/>
              <a:ea typeface="Arial"/>
              <a:cs typeface="Arial"/>
              <a:sym typeface="Arial"/>
            </a:endParaRPr>
          </a:p>
        </p:txBody>
      </p:sp>
      <p:sp>
        <p:nvSpPr>
          <p:cNvPr id="184" name="Google Shape;184;p11"/>
          <p:cNvSpPr txBox="1"/>
          <p:nvPr/>
        </p:nvSpPr>
        <p:spPr>
          <a:xfrm>
            <a:off x="4032250" y="4173537"/>
            <a:ext cx="3455987" cy="890587"/>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rgbClr val="000000"/>
              </a:buClr>
              <a:buSzPts val="2400"/>
              <a:buFont typeface="Noto Sans Symbols"/>
              <a:buNone/>
            </a:pPr>
            <a:r>
              <a:rPr b="1" i="0" lang="en-US" sz="2400" u="none" cap="none" strike="noStrike">
                <a:solidFill>
                  <a:srgbClr val="000000"/>
                </a:solidFill>
                <a:latin typeface="Noto Sans Symbols"/>
                <a:ea typeface="Noto Sans Symbols"/>
                <a:cs typeface="Noto Sans Symbols"/>
                <a:sym typeface="Noto Sans Symbols"/>
              </a:rPr>
              <a:t>Α ⇐ </a:t>
            </a:r>
            <a:r>
              <a:rPr b="1" i="0" lang="en-US" sz="2400" u="none" cap="none" strike="noStrike">
                <a:solidFill>
                  <a:srgbClr val="000000"/>
                </a:solidFill>
                <a:latin typeface="Libre Baskerville"/>
                <a:ea typeface="Libre Baskerville"/>
                <a:cs typeface="Libre Baskerville"/>
                <a:sym typeface="Libre Baskerville"/>
              </a:rPr>
              <a:t>Consulta</a:t>
            </a:r>
            <a:endParaRPr b="0" i="0" sz="1400" u="none" cap="none" strike="noStrike">
              <a:solidFill>
                <a:srgbClr val="000000"/>
              </a:solidFill>
              <a:latin typeface="Arial"/>
              <a:ea typeface="Arial"/>
              <a:cs typeface="Arial"/>
              <a:sym typeface="Arial"/>
            </a:endParaRPr>
          </a:p>
        </p:txBody>
      </p:sp>
      <p:sp>
        <p:nvSpPr>
          <p:cNvPr id="185" name="Google Shape;185;p11"/>
          <p:cNvSpPr txBox="1"/>
          <p:nvPr/>
        </p:nvSpPr>
        <p:spPr>
          <a:xfrm>
            <a:off x="1223962" y="4773612"/>
            <a:ext cx="10583862" cy="696912"/>
          </a:xfrm>
          <a:prstGeom prst="rect">
            <a:avLst/>
          </a:prstGeom>
          <a:solidFill>
            <a:srgbClr val="EFEFEF"/>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Vuelca a A los resultados de Consulta. Luego puedo utilizar 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192" name="Shape 192"/>
        <p:cNvGrpSpPr/>
        <p:nvPr/>
      </p:nvGrpSpPr>
      <p:grpSpPr>
        <a:xfrm>
          <a:off x="0" y="0"/>
          <a:ext cx="0" cy="0"/>
          <a:chOff x="0" y="0"/>
          <a:chExt cx="0" cy="0"/>
        </a:xfrm>
      </p:grpSpPr>
      <p:sp>
        <p:nvSpPr>
          <p:cNvPr id="193" name="Google Shape;193;p10"/>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Arial"/>
              <a:buNone/>
            </a:pPr>
            <a:r>
              <a:rPr b="0" i="0" lang="en-US" sz="4400" u="none" cap="none" strike="noStrike">
                <a:solidFill>
                  <a:srgbClr val="333333"/>
                </a:solidFill>
                <a:latin typeface="Arial"/>
                <a:ea typeface="Arial"/>
                <a:cs typeface="Arial"/>
                <a:sym typeface="Arial"/>
              </a:rPr>
              <a:t>Operaciones – División</a:t>
            </a:r>
            <a:endParaRPr b="0" i="0" sz="1400" u="none" cap="none" strike="noStrike">
              <a:solidFill>
                <a:srgbClr val="000000"/>
              </a:solidFill>
              <a:latin typeface="Arial"/>
              <a:ea typeface="Arial"/>
              <a:cs typeface="Arial"/>
              <a:sym typeface="Arial"/>
            </a:endParaRPr>
          </a:p>
        </p:txBody>
      </p:sp>
      <p:sp>
        <p:nvSpPr>
          <p:cNvPr id="194" name="Google Shape;194;p10"/>
          <p:cNvSpPr txBox="1"/>
          <p:nvPr/>
        </p:nvSpPr>
        <p:spPr>
          <a:xfrm>
            <a:off x="7994675" y="675687"/>
            <a:ext cx="1662000" cy="457200"/>
          </a:xfrm>
          <a:prstGeom prst="rect">
            <a:avLst/>
          </a:prstGeom>
          <a:noFill/>
          <a:ln>
            <a:noFill/>
          </a:ln>
        </p:spPr>
        <p:txBody>
          <a:bodyPr anchorCtr="0" anchor="t" bIns="45000" lIns="90000" spcFirstLastPara="1" rIns="90000" wrap="square" tIns="45000">
            <a:noAutofit/>
          </a:bodyPr>
          <a:lstStyle/>
          <a:p>
            <a:pPr indent="0" lvl="0" marL="0" marR="0" rtl="0" algn="l">
              <a:lnSpc>
                <a:spcPct val="96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T1 %</a:t>
            </a:r>
            <a:r>
              <a:rPr b="1" i="0" lang="en-US" sz="2400" u="none" cap="none" strike="noStrike">
                <a:solidFill>
                  <a:srgbClr val="000000"/>
                </a:solidFill>
                <a:latin typeface="Libre Baskerville"/>
                <a:ea typeface="Libre Baskerville"/>
                <a:cs typeface="Libre Baskerville"/>
                <a:sym typeface="Libre Baskerville"/>
              </a:rPr>
              <a:t> </a:t>
            </a:r>
            <a:r>
              <a:rPr b="1" i="0" lang="en-US" sz="2400" u="none" cap="none" strike="noStrike">
                <a:solidFill>
                  <a:srgbClr val="000000"/>
                </a:solidFill>
                <a:latin typeface="Arial"/>
                <a:ea typeface="Arial"/>
                <a:cs typeface="Arial"/>
                <a:sym typeface="Arial"/>
              </a:rPr>
              <a:t>T2</a:t>
            </a:r>
            <a:endParaRPr b="0" i="0" sz="1400" u="none" cap="none" strike="noStrike">
              <a:solidFill>
                <a:srgbClr val="000000"/>
              </a:solidFill>
              <a:latin typeface="Arial"/>
              <a:ea typeface="Arial"/>
              <a:cs typeface="Arial"/>
              <a:sym typeface="Arial"/>
            </a:endParaRPr>
          </a:p>
        </p:txBody>
      </p:sp>
      <p:sp>
        <p:nvSpPr>
          <p:cNvPr id="195" name="Google Shape;195;p10"/>
          <p:cNvSpPr txBox="1"/>
          <p:nvPr/>
        </p:nvSpPr>
        <p:spPr>
          <a:xfrm>
            <a:off x="720725" y="5366725"/>
            <a:ext cx="6458400" cy="457200"/>
          </a:xfrm>
          <a:prstGeom prst="rect">
            <a:avLst/>
          </a:prstGeom>
          <a:noFill/>
          <a:ln>
            <a:noFill/>
          </a:ln>
        </p:spPr>
        <p:txBody>
          <a:bodyPr anchorCtr="0" anchor="t" bIns="45000" lIns="90000" spcFirstLastPara="1" rIns="90000" wrap="square" tIns="45000">
            <a:noAutofit/>
          </a:bodyPr>
          <a:lstStyle/>
          <a:p>
            <a:pPr indent="0" lvl="0" marL="0" marR="0" rtl="0" algn="l">
              <a:lnSpc>
                <a:spcPct val="119000"/>
              </a:lnSpc>
              <a:spcBef>
                <a:spcPts val="0"/>
              </a:spcBef>
              <a:spcAft>
                <a:spcPts val="0"/>
              </a:spcAft>
              <a:buClr>
                <a:schemeClr val="dk1"/>
              </a:buClr>
              <a:buSzPts val="2400"/>
              <a:buFont typeface="Noto Sans Symbols"/>
              <a:buNone/>
            </a:pPr>
            <a:r>
              <a:rPr b="1" i="0" lang="en-US" sz="1900" u="none" cap="none" strike="noStrike">
                <a:solidFill>
                  <a:schemeClr val="dk1"/>
                </a:solidFill>
                <a:latin typeface="Noto Sans Symbols"/>
                <a:ea typeface="Noto Sans Symbols"/>
                <a:cs typeface="Noto Sans Symbols"/>
                <a:sym typeface="Noto Sans Symbols"/>
              </a:rPr>
              <a:t>π </a:t>
            </a:r>
            <a:r>
              <a:rPr b="1" i="0" lang="en-US" sz="1900" u="none" cap="none" strike="noStrike">
                <a:solidFill>
                  <a:schemeClr val="dk1"/>
                </a:solidFill>
                <a:latin typeface="Libre Baskerville"/>
                <a:ea typeface="Libre Baskerville"/>
                <a:cs typeface="Libre Baskerville"/>
                <a:sym typeface="Libre Baskerville"/>
              </a:rPr>
              <a:t>DNI, CodLoc (Viaje) % </a:t>
            </a:r>
            <a:r>
              <a:rPr b="1" i="0" lang="en-US" sz="1900" u="none" cap="none" strike="noStrike">
                <a:solidFill>
                  <a:schemeClr val="dk1"/>
                </a:solidFill>
                <a:latin typeface="Noto Sans Symbols"/>
                <a:ea typeface="Noto Sans Symbols"/>
                <a:cs typeface="Noto Sans Symbols"/>
                <a:sym typeface="Noto Sans Symbols"/>
              </a:rPr>
              <a:t>π</a:t>
            </a:r>
            <a:r>
              <a:rPr b="1" i="0" lang="en-US" sz="1900" u="none" cap="none" strike="noStrike">
                <a:solidFill>
                  <a:schemeClr val="dk1"/>
                </a:solidFill>
                <a:latin typeface="Libre Baskerville"/>
                <a:ea typeface="Libre Baskerville"/>
                <a:cs typeface="Libre Baskerville"/>
                <a:sym typeface="Libre Baskerville"/>
              </a:rPr>
              <a:t> CodLoc (Localidad) </a:t>
            </a:r>
            <a:endParaRPr b="1" i="0" sz="2400" u="none" cap="none" strike="noStrike">
              <a:solidFill>
                <a:srgbClr val="000000"/>
              </a:solidFill>
              <a:latin typeface="Arial"/>
              <a:ea typeface="Arial"/>
              <a:cs typeface="Arial"/>
              <a:sym typeface="Arial"/>
            </a:endParaRPr>
          </a:p>
        </p:txBody>
      </p:sp>
      <p:sp>
        <p:nvSpPr>
          <p:cNvPr id="196" name="Google Shape;196;p10"/>
          <p:cNvSpPr txBox="1"/>
          <p:nvPr/>
        </p:nvSpPr>
        <p:spPr>
          <a:xfrm>
            <a:off x="710050" y="3054775"/>
            <a:ext cx="26766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personas</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4446850" y="3054925"/>
            <a:ext cx="28104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localidad</a:t>
            </a:r>
            <a:endParaRPr b="0" i="0" sz="1400" u="none" cap="none" strike="noStrike">
              <a:solidFill>
                <a:srgbClr val="000000"/>
              </a:solidFill>
              <a:latin typeface="Arial"/>
              <a:ea typeface="Arial"/>
              <a:cs typeface="Arial"/>
              <a:sym typeface="Arial"/>
            </a:endParaRPr>
          </a:p>
        </p:txBody>
      </p:sp>
      <p:sp>
        <p:nvSpPr>
          <p:cNvPr id="198" name="Google Shape;198;p10"/>
          <p:cNvSpPr txBox="1"/>
          <p:nvPr/>
        </p:nvSpPr>
        <p:spPr>
          <a:xfrm>
            <a:off x="798725" y="1827449"/>
            <a:ext cx="10803000" cy="936600"/>
          </a:xfrm>
          <a:prstGeom prst="rect">
            <a:avLst/>
          </a:prstGeom>
          <a:solidFill>
            <a:srgbClr val="F3F3F3"/>
          </a:solidFill>
          <a:ln cap="sq" cmpd="sng" w="9525">
            <a:solidFill>
              <a:srgbClr val="3465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Produce una tabla con los campos de T1-T2 (están en T1 y no en T2), donde los valores en esos campos de T1 se corresponden con TODAS las tuplas en T2. El esquema de T2 deber estar incluido en T1.</a:t>
            </a:r>
            <a:endParaRPr b="0" i="0" sz="1400" u="none" cap="none" strike="noStrike">
              <a:solidFill>
                <a:srgbClr val="000000"/>
              </a:solidFill>
              <a:latin typeface="Arial"/>
              <a:ea typeface="Arial"/>
              <a:cs typeface="Arial"/>
              <a:sym typeface="Arial"/>
            </a:endParaRPr>
          </a:p>
        </p:txBody>
      </p:sp>
      <p:graphicFrame>
        <p:nvGraphicFramePr>
          <p:cNvPr id="199" name="Google Shape;199;p10"/>
          <p:cNvGraphicFramePr/>
          <p:nvPr/>
        </p:nvGraphicFramePr>
        <p:xfrm>
          <a:off x="720725" y="3570713"/>
          <a:ext cx="3000000" cy="3000000"/>
        </p:xfrm>
        <a:graphic>
          <a:graphicData uri="http://schemas.openxmlformats.org/drawingml/2006/table">
            <a:tbl>
              <a:tblPr>
                <a:noFill/>
                <a:tableStyleId>{AE646E5D-DD90-458A-8D95-EC3F55E9EFC7}</a:tableStyleId>
              </a:tblPr>
              <a:tblGrid>
                <a:gridCol w="1116475"/>
                <a:gridCol w="1161350"/>
                <a:gridCol w="10940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DNI</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Apellido</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10000000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Lopez</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20000000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Carlos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Griguol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30000000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Pedro</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Gonzalez</a:t>
                      </a:r>
                      <a:endParaRPr sz="1400" u="none" cap="none" strike="noStrike"/>
                    </a:p>
                  </a:txBody>
                  <a:tcPr marT="91425" marB="91425" marR="91425" marL="91425"/>
                </a:tc>
              </a:tr>
            </a:tbl>
          </a:graphicData>
        </a:graphic>
      </p:graphicFrame>
      <p:graphicFrame>
        <p:nvGraphicFramePr>
          <p:cNvPr id="200" name="Google Shape;200;p10"/>
          <p:cNvGraphicFramePr/>
          <p:nvPr/>
        </p:nvGraphicFramePr>
        <p:xfrm>
          <a:off x="4572000" y="3570763"/>
          <a:ext cx="3000000" cy="3000000"/>
        </p:xfrm>
        <a:graphic>
          <a:graphicData uri="http://schemas.openxmlformats.org/drawingml/2006/table">
            <a:tbl>
              <a:tblPr>
                <a:noFill/>
                <a:tableStyleId>{AE646E5D-DD90-458A-8D95-EC3F55E9EFC7}</a:tableStyleId>
              </a:tblPr>
              <a:tblGrid>
                <a:gridCol w="1280050"/>
                <a:gridCol w="1280050"/>
              </a:tblGrid>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NombreLoc</a:t>
                      </a:r>
                      <a:endParaRPr sz="1400" u="none" cap="none" strike="noStrike"/>
                    </a:p>
                  </a:txBody>
                  <a:tcPr marT="91425" marB="91425" marR="91425" marL="91425">
                    <a:solidFill>
                      <a:srgbClr val="CCCCCC"/>
                    </a:solidFill>
                  </a:tcPr>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La Plata</a:t>
                      </a:r>
                      <a:endParaRPr sz="1400" u="none" cap="none" strike="noStrike"/>
                    </a:p>
                  </a:txBody>
                  <a:tcPr marT="91425" marB="91425" marR="91425" marL="91425"/>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Berisso</a:t>
                      </a:r>
                      <a:endParaRPr sz="1400" u="none" cap="none" strike="noStrike"/>
                    </a:p>
                  </a:txBody>
                  <a:tcPr marT="91425" marB="91425" marR="91425" marL="91425"/>
                </a:tc>
              </a:tr>
            </a:tbl>
          </a:graphicData>
        </a:graphic>
      </p:graphicFrame>
      <p:graphicFrame>
        <p:nvGraphicFramePr>
          <p:cNvPr id="201" name="Google Shape;201;p10"/>
          <p:cNvGraphicFramePr/>
          <p:nvPr/>
        </p:nvGraphicFramePr>
        <p:xfrm>
          <a:off x="7742750" y="3570913"/>
          <a:ext cx="3000000" cy="3000000"/>
        </p:xfrm>
        <a:graphic>
          <a:graphicData uri="http://schemas.openxmlformats.org/drawingml/2006/table">
            <a:tbl>
              <a:tblPr>
                <a:noFill/>
                <a:tableStyleId>{AE646E5D-DD90-458A-8D95-EC3F55E9EFC7}</a:tableStyleId>
              </a:tblPr>
              <a:tblGrid>
                <a:gridCol w="848525"/>
                <a:gridCol w="1207375"/>
                <a:gridCol w="1027950"/>
                <a:gridCol w="1027950"/>
              </a:tblGrid>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IdViaje</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Fecha</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DNI</a:t>
                      </a:r>
                      <a:endParaRPr sz="1400" u="none" cap="none" strike="noStrike"/>
                    </a:p>
                  </a:txBody>
                  <a:tcPr marT="91425" marB="91425" marR="91425" marL="91425">
                    <a:solidFill>
                      <a:srgbClr val="CCCC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CodLoc</a:t>
                      </a:r>
                      <a:endParaRPr sz="1400" u="none" cap="none" strike="noStrike"/>
                    </a:p>
                  </a:txBody>
                  <a:tcPr marT="91425" marB="91425" marR="91425" marL="91425">
                    <a:solidFill>
                      <a:srgbClr val="CCCCCC"/>
                    </a:solidFill>
                  </a:tcPr>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1/10/2024</a:t>
                      </a:r>
                      <a:endParaRPr sz="14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10000000</a:t>
                      </a:r>
                      <a:endParaRPr sz="14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lnB cap="flat" cmpd="sng" w="9525">
                      <a:solidFill>
                        <a:srgbClr val="9E9E9E"/>
                      </a:solidFill>
                      <a:prstDash val="solid"/>
                      <a:round/>
                      <a:headEnd len="sm" w="sm" type="none"/>
                      <a:tailEnd len="sm" w="sm" type="none"/>
                    </a:lnB>
                  </a:tcPr>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3/10/2024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10000000</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2/10/2024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2000000</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89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4/10/2024</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3000000</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02" name="Google Shape;202;p10"/>
          <p:cNvSpPr txBox="1"/>
          <p:nvPr/>
        </p:nvSpPr>
        <p:spPr>
          <a:xfrm>
            <a:off x="7514875" y="3054925"/>
            <a:ext cx="2810400" cy="516000"/>
          </a:xfrm>
          <a:prstGeom prst="rect">
            <a:avLst/>
          </a:prstGeom>
          <a:noFill/>
          <a:ln>
            <a:noFill/>
          </a:ln>
        </p:spPr>
        <p:txBody>
          <a:bodyPr anchorCtr="0" anchor="t" bIns="45000" lIns="90000" spcFirstLastPara="1" rIns="90000" wrap="square" tIns="45000">
            <a:noAutofit/>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Tabla viaje</a:t>
            </a:r>
            <a:endParaRPr b="0" i="0" sz="1400" u="none" cap="none" strike="noStrike">
              <a:solidFill>
                <a:srgbClr val="000000"/>
              </a:solidFill>
              <a:latin typeface="Arial"/>
              <a:ea typeface="Arial"/>
              <a:cs typeface="Arial"/>
              <a:sym typeface="Arial"/>
            </a:endParaRPr>
          </a:p>
        </p:txBody>
      </p:sp>
      <p:graphicFrame>
        <p:nvGraphicFramePr>
          <p:cNvPr id="203" name="Google Shape;203;p10"/>
          <p:cNvGraphicFramePr/>
          <p:nvPr/>
        </p:nvGraphicFramePr>
        <p:xfrm>
          <a:off x="798725" y="5823913"/>
          <a:ext cx="3000000" cy="3000000"/>
        </p:xfrm>
        <a:graphic>
          <a:graphicData uri="http://schemas.openxmlformats.org/drawingml/2006/table">
            <a:tbl>
              <a:tblPr>
                <a:noFill/>
                <a:tableStyleId>{AE646E5D-DD90-458A-8D95-EC3F55E9EFC7}</a:tableStyleId>
              </a:tblPr>
              <a:tblGrid>
                <a:gridCol w="11164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DNI</a:t>
                      </a:r>
                      <a:endParaRPr sz="1400" u="none" cap="none" strike="noStrike"/>
                    </a:p>
                  </a:txBody>
                  <a:tcPr marT="91425" marB="91425" marR="91425" marL="91425">
                    <a:solidFill>
                      <a:srgbClr val="CCCCC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10000000</a:t>
                      </a:r>
                      <a:endParaRPr sz="1400" u="none" cap="none" strike="noStrike"/>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10" name="Shape 210"/>
        <p:cNvGrpSpPr/>
        <p:nvPr/>
      </p:nvGrpSpPr>
      <p:grpSpPr>
        <a:xfrm>
          <a:off x="0" y="0"/>
          <a:ext cx="0" cy="0"/>
          <a:chOff x="0" y="0"/>
          <a:chExt cx="0" cy="0"/>
        </a:xfrm>
      </p:grpSpPr>
      <p:sp>
        <p:nvSpPr>
          <p:cNvPr id="211" name="Google Shape;211;p12"/>
          <p:cNvSpPr txBox="1"/>
          <p:nvPr/>
        </p:nvSpPr>
        <p:spPr>
          <a:xfrm>
            <a:off x="1728787" y="425450"/>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Actualización de tablas</a:t>
            </a:r>
            <a:endParaRPr b="0" i="0" sz="1400" u="none" cap="none" strike="noStrike">
              <a:solidFill>
                <a:srgbClr val="000000"/>
              </a:solidFill>
              <a:latin typeface="Arial"/>
              <a:ea typeface="Arial"/>
              <a:cs typeface="Arial"/>
              <a:sym typeface="Arial"/>
            </a:endParaRPr>
          </a:p>
        </p:txBody>
      </p:sp>
      <p:sp>
        <p:nvSpPr>
          <p:cNvPr id="212" name="Google Shape;212;p12"/>
          <p:cNvSpPr txBox="1"/>
          <p:nvPr/>
        </p:nvSpPr>
        <p:spPr>
          <a:xfrm>
            <a:off x="1152525" y="1476375"/>
            <a:ext cx="10296525" cy="4572000"/>
          </a:xfrm>
          <a:prstGeom prst="rect">
            <a:avLst/>
          </a:prstGeom>
          <a:noFill/>
          <a:ln>
            <a:noFill/>
          </a:ln>
        </p:spPr>
        <p:txBody>
          <a:bodyPr anchorCtr="0" anchor="t" bIns="45000" lIns="90000" spcFirstLastPara="1" rIns="90000" wrap="square" tIns="45000">
            <a:noAutofit/>
          </a:bodyPr>
          <a:lstStyle/>
          <a:p>
            <a:pPr indent="-258761" lvl="0" marL="273050" marR="0" rtl="0" algn="l">
              <a:lnSpc>
                <a:spcPct val="100000"/>
              </a:lnSpc>
              <a:spcBef>
                <a:spcPts val="0"/>
              </a:spcBef>
              <a:spcAft>
                <a:spcPts val="0"/>
              </a:spcAft>
              <a:buClr>
                <a:srgbClr val="000000"/>
              </a:buClr>
              <a:buSzPts val="2400"/>
              <a:buFont typeface="Libre Baskerville"/>
              <a:buNone/>
            </a:pPr>
            <a:r>
              <a:rPr b="0" i="0" lang="en-US" sz="2400" u="none" cap="none" strike="noStrike">
                <a:solidFill>
                  <a:srgbClr val="000000"/>
                </a:solidFill>
                <a:latin typeface="Libre Baskerville"/>
                <a:ea typeface="Libre Baskerville"/>
                <a:cs typeface="Libre Baskerville"/>
                <a:sym typeface="Libre Baskerville"/>
              </a:rPr>
              <a:t>Producto=(</a:t>
            </a:r>
            <a:r>
              <a:rPr b="0" i="0" lang="en-US" sz="2400" u="sng" cap="none" strike="noStrike">
                <a:solidFill>
                  <a:srgbClr val="000000"/>
                </a:solidFill>
                <a:latin typeface="Libre Baskerville"/>
                <a:ea typeface="Libre Baskerville"/>
                <a:cs typeface="Libre Baskerville"/>
                <a:sym typeface="Libre Baskerville"/>
              </a:rPr>
              <a:t>codProd</a:t>
            </a:r>
            <a:r>
              <a:rPr b="0" i="0" lang="en-US" sz="2400" u="none" cap="none" strike="noStrike">
                <a:solidFill>
                  <a:srgbClr val="000000"/>
                </a:solidFill>
                <a:latin typeface="Libre Baskerville"/>
                <a:ea typeface="Libre Baskerville"/>
                <a:cs typeface="Libre Baskerville"/>
                <a:sym typeface="Libre Baskerville"/>
              </a:rPr>
              <a:t>, desc, existAct, existMin, pVAct)</a:t>
            </a:r>
            <a:endParaRPr b="0" i="0" sz="1400" u="none" cap="none" strike="noStrike">
              <a:solidFill>
                <a:srgbClr val="000000"/>
              </a:solidFill>
              <a:latin typeface="Arial"/>
              <a:ea typeface="Arial"/>
              <a:cs typeface="Arial"/>
              <a:sym typeface="Arial"/>
            </a:endParaRPr>
          </a:p>
          <a:p>
            <a:pPr indent="-258762" lvl="0" marL="273050" marR="0" rtl="0" algn="l">
              <a:lnSpc>
                <a:spcPct val="120000"/>
              </a:lnSpc>
              <a:spcBef>
                <a:spcPts val="1900"/>
              </a:spcBef>
              <a:spcAft>
                <a:spcPts val="0"/>
              </a:spcAft>
              <a:buClr>
                <a:srgbClr val="006600"/>
              </a:buClr>
              <a:buSzPts val="2400"/>
              <a:buFont typeface="Noto Sans Symbols"/>
              <a:buChar char="❑"/>
            </a:pPr>
            <a:r>
              <a:rPr b="1" i="0" lang="en-US" sz="2400" u="none" cap="none" strike="noStrike">
                <a:solidFill>
                  <a:srgbClr val="000000"/>
                </a:solidFill>
                <a:latin typeface="Libre Baskerville"/>
                <a:ea typeface="Libre Baskerville"/>
                <a:cs typeface="Libre Baskerville"/>
                <a:sym typeface="Libre Baskerville"/>
              </a:rPr>
              <a:t>Incorporar</a:t>
            </a:r>
            <a:r>
              <a:rPr b="0" i="0" lang="en-US" sz="2400" u="none" cap="none" strike="noStrike">
                <a:solidFill>
                  <a:srgbClr val="000000"/>
                </a:solidFill>
                <a:latin typeface="Libre Baskerville"/>
                <a:ea typeface="Libre Baskerville"/>
                <a:cs typeface="Libre Baskerville"/>
                <a:sym typeface="Libre Baskerville"/>
              </a:rPr>
              <a:t> </a:t>
            </a:r>
            <a:r>
              <a:rPr b="0" i="0" lang="en-US" sz="2400" u="none" cap="none" strike="noStrike">
                <a:solidFill>
                  <a:srgbClr val="000000"/>
                </a:solidFill>
                <a:latin typeface="Arial"/>
                <a:ea typeface="Arial"/>
                <a:cs typeface="Arial"/>
                <a:sym typeface="Arial"/>
              </a:rPr>
              <a:t>el</a:t>
            </a:r>
            <a:r>
              <a:rPr b="0" i="0" lang="en-US" sz="2400" u="none" cap="none" strike="noStrike">
                <a:solidFill>
                  <a:srgbClr val="000000"/>
                </a:solidFill>
                <a:latin typeface="Libre Baskerville"/>
                <a:ea typeface="Libre Baskerville"/>
                <a:cs typeface="Libre Baskerville"/>
                <a:sym typeface="Libre Baskerville"/>
              </a:rPr>
              <a:t> producto (1235, “tuerca de 9 mm”, 50, 10,  $100):</a:t>
            </a:r>
            <a:br>
              <a:rPr b="0" i="0" lang="en-US" sz="2400" u="none" cap="none" strike="noStrike">
                <a:solidFill>
                  <a:srgbClr val="000000"/>
                </a:solidFill>
                <a:latin typeface="Libre Baskerville"/>
                <a:ea typeface="Libre Baskerville"/>
                <a:cs typeface="Libre Baskerville"/>
                <a:sym typeface="Libre Baskerville"/>
              </a:rPr>
            </a:br>
            <a:r>
              <a:rPr b="0" i="0" lang="en-US" sz="2400" u="none" cap="none" strike="noStrike">
                <a:solidFill>
                  <a:srgbClr val="000000"/>
                </a:solidFill>
                <a:latin typeface="Libre Baskerville"/>
                <a:ea typeface="Libre Baskerville"/>
                <a:cs typeface="Libre Baskerville"/>
                <a:sym typeface="Libre Baskerville"/>
              </a:rPr>
              <a:t>Producto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Libre Baskerville"/>
                <a:ea typeface="Libre Baskerville"/>
                <a:cs typeface="Libre Baskerville"/>
                <a:sym typeface="Libre Baskerville"/>
              </a:rPr>
              <a:t> Producto </a:t>
            </a:r>
            <a:r>
              <a:rPr b="1"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Libre Baskerville"/>
                <a:ea typeface="Libre Baskerville"/>
                <a:cs typeface="Libre Baskerville"/>
                <a:sym typeface="Libre Baskerville"/>
              </a:rPr>
              <a:t> {(1235, “tuerca de 9 mm”, 50, 10, $100)}</a:t>
            </a:r>
            <a:endParaRPr b="0" i="0" sz="1400" u="none" cap="none" strike="noStrike">
              <a:solidFill>
                <a:srgbClr val="000000"/>
              </a:solidFill>
              <a:latin typeface="Arial"/>
              <a:ea typeface="Arial"/>
              <a:cs typeface="Arial"/>
              <a:sym typeface="Arial"/>
            </a:endParaRPr>
          </a:p>
          <a:p>
            <a:pPr indent="-258762" lvl="0" marL="273050" marR="0" rtl="0" algn="l">
              <a:lnSpc>
                <a:spcPct val="120000"/>
              </a:lnSpc>
              <a:spcBef>
                <a:spcPts val="1900"/>
              </a:spcBef>
              <a:spcAft>
                <a:spcPts val="0"/>
              </a:spcAft>
              <a:buClr>
                <a:srgbClr val="C00000"/>
              </a:buClr>
              <a:buSzPts val="2400"/>
              <a:buFont typeface="Noto Sans Symbols"/>
              <a:buChar char="❑"/>
            </a:pPr>
            <a:r>
              <a:rPr b="1" i="0" lang="en-US" sz="2400" u="none" cap="none" strike="noStrike">
                <a:solidFill>
                  <a:srgbClr val="000000"/>
                </a:solidFill>
                <a:latin typeface="Libre Baskerville"/>
                <a:ea typeface="Libre Baskerville"/>
                <a:cs typeface="Libre Baskerville"/>
                <a:sym typeface="Libre Baskerville"/>
              </a:rPr>
              <a:t>Eliminar</a:t>
            </a:r>
            <a:r>
              <a:rPr b="0" i="0" lang="en-US" sz="2400" u="none" cap="none" strike="noStrike">
                <a:solidFill>
                  <a:srgbClr val="000000"/>
                </a:solidFill>
                <a:latin typeface="Libre Baskerville"/>
                <a:ea typeface="Libre Baskerville"/>
                <a:cs typeface="Libre Baskerville"/>
                <a:sym typeface="Libre Baskerville"/>
              </a:rPr>
              <a:t> el producto 893:</a:t>
            </a:r>
            <a:br>
              <a:rPr b="0" i="0" lang="en-US" sz="2400" u="none" cap="none" strike="noStrike">
                <a:solidFill>
                  <a:srgbClr val="000000"/>
                </a:solidFill>
                <a:latin typeface="Libre Baskerville"/>
                <a:ea typeface="Libre Baskerville"/>
                <a:cs typeface="Libre Baskerville"/>
                <a:sym typeface="Libre Baskerville"/>
              </a:rPr>
            </a:br>
            <a:r>
              <a:rPr b="0" i="0" lang="en-US" sz="2400" u="none" cap="none" strike="noStrike">
                <a:solidFill>
                  <a:srgbClr val="000000"/>
                </a:solidFill>
                <a:latin typeface="Libre Baskerville"/>
                <a:ea typeface="Libre Baskerville"/>
                <a:cs typeface="Libre Baskerville"/>
                <a:sym typeface="Libre Baskerville"/>
              </a:rPr>
              <a:t> Producto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Libre Baskerville"/>
                <a:ea typeface="Libre Baskerville"/>
                <a:cs typeface="Libre Baskerville"/>
                <a:sym typeface="Libre Baskerville"/>
              </a:rPr>
              <a:t> Producto </a:t>
            </a:r>
            <a:r>
              <a:rPr b="1" i="0" lang="en-US" sz="2400" u="none" cap="none" strike="noStrike">
                <a:solidFill>
                  <a:srgbClr val="000000"/>
                </a:solidFill>
                <a:latin typeface="Libre Baskerville"/>
                <a:ea typeface="Libre Baskerville"/>
                <a:cs typeface="Libre Baskerville"/>
                <a:sym typeface="Libre Baskerville"/>
              </a:rPr>
              <a:t>–</a:t>
            </a:r>
            <a:r>
              <a:rPr b="0" i="0" lang="en-US" sz="2400" u="none" cap="none" strike="noStrike">
                <a:solidFill>
                  <a:srgbClr val="000000"/>
                </a:solidFill>
                <a:latin typeface="Libre Baskerville"/>
                <a:ea typeface="Libre Baskerville"/>
                <a:cs typeface="Libre Baskerville"/>
                <a:sym typeface="Libre Baskerville"/>
              </a:rPr>
              <a:t> </a:t>
            </a:r>
            <a:r>
              <a:rPr b="0" i="0" lang="en-US" sz="2400" u="none" cap="none" strike="noStrike">
                <a:solidFill>
                  <a:srgbClr val="000000"/>
                </a:solidFill>
                <a:latin typeface="Noto Sans Symbols"/>
                <a:ea typeface="Noto Sans Symbols"/>
                <a:cs typeface="Noto Sans Symbols"/>
                <a:sym typeface="Noto Sans Symbols"/>
              </a:rPr>
              <a:t>σ</a:t>
            </a:r>
            <a:r>
              <a:rPr b="0" baseline="-25000" i="0" lang="en-US" sz="2400" u="none" cap="none" strike="noStrike">
                <a:solidFill>
                  <a:srgbClr val="000000"/>
                </a:solidFill>
                <a:latin typeface="Libre Baskerville"/>
                <a:ea typeface="Libre Baskerville"/>
                <a:cs typeface="Libre Baskerville"/>
                <a:sym typeface="Libre Baskerville"/>
              </a:rPr>
              <a:t>codProd=893</a:t>
            </a:r>
            <a:r>
              <a:rPr b="0" i="0" lang="en-US" sz="2400" u="none" cap="none" strike="noStrike">
                <a:solidFill>
                  <a:srgbClr val="000000"/>
                </a:solidFill>
                <a:latin typeface="Libre Baskerville"/>
                <a:ea typeface="Libre Baskerville"/>
                <a:cs typeface="Libre Baskerville"/>
                <a:sym typeface="Libre Baskerville"/>
              </a:rPr>
              <a:t>(Producto)</a:t>
            </a:r>
            <a:endParaRPr b="0" i="0" sz="1400" u="none" cap="none" strike="noStrike">
              <a:solidFill>
                <a:srgbClr val="000000"/>
              </a:solidFill>
              <a:latin typeface="Arial"/>
              <a:ea typeface="Arial"/>
              <a:cs typeface="Arial"/>
              <a:sym typeface="Arial"/>
            </a:endParaRPr>
          </a:p>
          <a:p>
            <a:pPr indent="-258762" lvl="0" marL="273050" marR="0" rtl="0" algn="l">
              <a:lnSpc>
                <a:spcPct val="120000"/>
              </a:lnSpc>
              <a:spcBef>
                <a:spcPts val="1900"/>
              </a:spcBef>
              <a:spcAft>
                <a:spcPts val="0"/>
              </a:spcAft>
              <a:buClr>
                <a:srgbClr val="333399"/>
              </a:buClr>
              <a:buSzPts val="2400"/>
              <a:buFont typeface="Noto Sans Symbols"/>
              <a:buChar char="❑"/>
            </a:pPr>
            <a:r>
              <a:rPr b="1" i="0" lang="en-US" sz="2400" u="none" cap="none" strike="noStrike">
                <a:solidFill>
                  <a:srgbClr val="000000"/>
                </a:solidFill>
                <a:latin typeface="Libre Baskerville"/>
                <a:ea typeface="Libre Baskerville"/>
                <a:cs typeface="Libre Baskerville"/>
                <a:sym typeface="Libre Baskerville"/>
              </a:rPr>
              <a:t>Aumentar el 1% el precio de venta actual </a:t>
            </a:r>
            <a:r>
              <a:rPr b="0" i="0" lang="en-US" sz="2400" u="none" cap="none" strike="noStrike">
                <a:solidFill>
                  <a:srgbClr val="000000"/>
                </a:solidFill>
                <a:latin typeface="Libre Baskerville"/>
                <a:ea typeface="Libre Baskerville"/>
                <a:cs typeface="Libre Baskerville"/>
                <a:sym typeface="Libre Baskerville"/>
              </a:rPr>
              <a:t>de </a:t>
            </a:r>
            <a:r>
              <a:rPr b="1" i="0" lang="en-US" sz="2400" u="none" cap="none" strike="noStrike">
                <a:solidFill>
                  <a:srgbClr val="000000"/>
                </a:solidFill>
                <a:latin typeface="Libre Baskerville"/>
                <a:ea typeface="Libre Baskerville"/>
                <a:cs typeface="Libre Baskerville"/>
                <a:sym typeface="Libre Baskerville"/>
              </a:rPr>
              <a:t>todos</a:t>
            </a:r>
            <a:r>
              <a:rPr b="0" i="0" lang="en-US" sz="2400" u="none" cap="none" strike="noStrike">
                <a:solidFill>
                  <a:srgbClr val="000000"/>
                </a:solidFill>
                <a:latin typeface="Libre Baskerville"/>
                <a:ea typeface="Libre Baskerville"/>
                <a:cs typeface="Libre Baskerville"/>
                <a:sym typeface="Libre Baskerville"/>
              </a:rPr>
              <a:t> los productos:</a:t>
            </a:r>
            <a:br>
              <a:rPr b="0" i="0" lang="en-US" sz="2400" u="none" cap="none" strike="noStrike">
                <a:solidFill>
                  <a:srgbClr val="000000"/>
                </a:solidFill>
                <a:latin typeface="Libre Baskerville"/>
                <a:ea typeface="Libre Baskerville"/>
                <a:cs typeface="Libre Baskerville"/>
                <a:sym typeface="Libre Baskerville"/>
              </a:rPr>
            </a:br>
            <a:r>
              <a:rPr b="0" i="0" lang="en-US" sz="2400" u="none" cap="none" strike="noStrike">
                <a:solidFill>
                  <a:srgbClr val="000000"/>
                </a:solidFill>
                <a:latin typeface="Noto Sans Symbols"/>
                <a:ea typeface="Noto Sans Symbols"/>
                <a:cs typeface="Noto Sans Symbols"/>
                <a:sym typeface="Noto Sans Symbols"/>
              </a:rPr>
              <a:t>δ </a:t>
            </a:r>
            <a:r>
              <a:rPr b="1" i="0" lang="en-US" sz="2400" u="none" cap="none" strike="noStrike">
                <a:solidFill>
                  <a:srgbClr val="000000"/>
                </a:solidFill>
                <a:latin typeface="Libre Baskerville"/>
                <a:ea typeface="Libre Baskerville"/>
                <a:cs typeface="Libre Baskerville"/>
                <a:sym typeface="Libre Baskerville"/>
              </a:rPr>
              <a:t>pVAct </a:t>
            </a:r>
            <a:r>
              <a:rPr b="1" i="0" lang="en-US" sz="2400" u="none" cap="none" strike="noStrike">
                <a:solidFill>
                  <a:srgbClr val="000000"/>
                </a:solidFill>
                <a:latin typeface="Noto Sans Symbols"/>
                <a:ea typeface="Noto Sans Symbols"/>
                <a:cs typeface="Noto Sans Symbols"/>
                <a:sym typeface="Noto Sans Symbols"/>
              </a:rPr>
              <a:t>⇐</a:t>
            </a:r>
            <a:r>
              <a:rPr b="1" i="0" lang="en-US" sz="2400" u="none" cap="none" strike="noStrike">
                <a:solidFill>
                  <a:srgbClr val="000000"/>
                </a:solidFill>
                <a:latin typeface="Libre Baskerville"/>
                <a:ea typeface="Libre Baskerville"/>
                <a:cs typeface="Libre Baskerville"/>
                <a:sym typeface="Libre Baskerville"/>
              </a:rPr>
              <a:t> pVAct * 1,01</a:t>
            </a:r>
            <a:r>
              <a:rPr b="0" i="0" lang="en-US" sz="2400" u="none" cap="none" strike="noStrike">
                <a:solidFill>
                  <a:srgbClr val="000000"/>
                </a:solidFill>
                <a:latin typeface="Libre Baskerville"/>
                <a:ea typeface="Libre Baskerville"/>
                <a:cs typeface="Libre Baskerville"/>
                <a:sym typeface="Libre Baskerville"/>
              </a:rPr>
              <a:t>(Producto)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19" name="Shape 219"/>
        <p:cNvGrpSpPr/>
        <p:nvPr/>
      </p:nvGrpSpPr>
      <p:grpSpPr>
        <a:xfrm>
          <a:off x="0" y="0"/>
          <a:ext cx="0" cy="0"/>
          <a:chOff x="0" y="0"/>
          <a:chExt cx="0" cy="0"/>
        </a:xfrm>
      </p:grpSpPr>
      <p:sp>
        <p:nvSpPr>
          <p:cNvPr id="220" name="Google Shape;220;g15e887a3875_0_0"/>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21" name="Google Shape;221;g15e887a3875_0_0"/>
          <p:cNvSpPr/>
          <p:nvPr/>
        </p:nvSpPr>
        <p:spPr>
          <a:xfrm>
            <a:off x="2749550" y="3471862"/>
            <a:ext cx="10701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22" name="Google Shape;222;g15e887a3875_0_0"/>
          <p:cNvSpPr/>
          <p:nvPr/>
        </p:nvSpPr>
        <p:spPr>
          <a:xfrm>
            <a:off x="5214937" y="3482975"/>
            <a:ext cx="9366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23" name="Google Shape;223;g15e887a3875_0_0"/>
          <p:cNvSpPr txBox="1"/>
          <p:nvPr/>
        </p:nvSpPr>
        <p:spPr>
          <a:xfrm>
            <a:off x="2087562" y="1203325"/>
            <a:ext cx="83058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2400"/>
              <a:buFont typeface="Rambla"/>
              <a:buNone/>
            </a:pPr>
            <a:r>
              <a:rPr b="1" i="0" lang="en-US" sz="2400" u="none" cap="none" strike="noStrike">
                <a:solidFill>
                  <a:srgbClr val="000000"/>
                </a:solidFill>
                <a:latin typeface="Rambla"/>
                <a:ea typeface="Rambla"/>
                <a:cs typeface="Rambla"/>
                <a:sym typeface="Rambla"/>
              </a:rPr>
              <a:t>Modelo Físico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rPr b="1" i="0" lang="en-US" sz="1800" u="none" cap="none" strike="noStrike">
                <a:solidFill>
                  <a:srgbClr val="000000"/>
                </a:solidFill>
                <a:latin typeface="Rambla"/>
                <a:ea typeface="Rambla"/>
                <a:cs typeface="Rambla"/>
                <a:sym typeface="Rambla"/>
              </a:rPr>
              <a:t>PRODUCTO</a:t>
            </a:r>
            <a:r>
              <a:rPr b="0" i="0" lang="en-US" sz="1800" u="none" cap="none" strike="noStrike">
                <a:solidFill>
                  <a:srgbClr val="000000"/>
                </a:solidFill>
                <a:latin typeface="Rambla"/>
                <a:ea typeface="Rambla"/>
                <a:cs typeface="Rambla"/>
                <a:sym typeface="Rambla"/>
              </a:rPr>
              <a:t> = (</a:t>
            </a:r>
            <a:r>
              <a:rPr b="0" i="0" lang="en-US" sz="1800" u="sng" cap="none" strike="noStrike">
                <a:solidFill>
                  <a:srgbClr val="000000"/>
                </a:solidFill>
                <a:latin typeface="Rambla"/>
                <a:ea typeface="Rambla"/>
                <a:cs typeface="Rambla"/>
                <a:sym typeface="Rambla"/>
              </a:rPr>
              <a:t>idproducto</a:t>
            </a:r>
            <a:r>
              <a:rPr b="0" i="0" lang="en-US" sz="1800" u="none" cap="none" strike="noStrike">
                <a:solidFill>
                  <a:srgbClr val="000000"/>
                </a:solidFill>
                <a:latin typeface="Rambla"/>
                <a:ea typeface="Rambla"/>
                <a:cs typeface="Rambla"/>
                <a:sym typeface="Rambla"/>
              </a:rPr>
              <a:t>, nombre, códigobarra, preciocosto)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Rambla"/>
              <a:buNone/>
            </a:pPr>
            <a:r>
              <a:rPr b="1" i="0" lang="en-US" sz="1800" u="none" cap="none" strike="noStrike">
                <a:solidFill>
                  <a:srgbClr val="000000"/>
                </a:solidFill>
                <a:latin typeface="Rambla"/>
                <a:ea typeface="Rambla"/>
                <a:cs typeface="Rambla"/>
                <a:sym typeface="Rambla"/>
              </a:rPr>
              <a:t>CLIENTE</a:t>
            </a:r>
            <a:r>
              <a:rPr b="0" i="0" lang="en-US" sz="1800" u="none" cap="none" strike="noStrike">
                <a:solidFill>
                  <a:srgbClr val="000000"/>
                </a:solidFill>
                <a:latin typeface="Rambla"/>
                <a:ea typeface="Rambla"/>
                <a:cs typeface="Rambla"/>
                <a:sym typeface="Rambla"/>
              </a:rPr>
              <a:t> = (</a:t>
            </a:r>
            <a:r>
              <a:rPr b="0" i="0" lang="en-US" sz="1800" u="sng" cap="none" strike="noStrike">
                <a:solidFill>
                  <a:srgbClr val="000000"/>
                </a:solidFill>
                <a:latin typeface="Rambla"/>
                <a:ea typeface="Rambla"/>
                <a:cs typeface="Rambla"/>
                <a:sym typeface="Rambla"/>
              </a:rPr>
              <a:t>idcliente</a:t>
            </a:r>
            <a:r>
              <a:rPr b="0" i="0" lang="en-US" sz="1800" u="none" cap="none" strike="noStrike">
                <a:solidFill>
                  <a:srgbClr val="000000"/>
                </a:solidFill>
                <a:latin typeface="Rambla"/>
                <a:ea typeface="Rambla"/>
                <a:cs typeface="Rambla"/>
                <a:sym typeface="Rambla"/>
              </a:rPr>
              <a:t>, nombre, dirección, idlocalidad(FK))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Rambla"/>
              <a:buNone/>
            </a:pPr>
            <a:r>
              <a:rPr b="1" i="0" lang="en-US" sz="1800" u="none" cap="none" strike="noStrike">
                <a:solidFill>
                  <a:srgbClr val="000000"/>
                </a:solidFill>
                <a:latin typeface="Rambla"/>
                <a:ea typeface="Rambla"/>
                <a:cs typeface="Rambla"/>
                <a:sym typeface="Rambla"/>
              </a:rPr>
              <a:t>FACTURA</a:t>
            </a:r>
            <a:r>
              <a:rPr b="0" i="0" lang="en-US" sz="1800" u="none" cap="none" strike="noStrike">
                <a:solidFill>
                  <a:srgbClr val="000000"/>
                </a:solidFill>
                <a:latin typeface="Rambla"/>
                <a:ea typeface="Rambla"/>
                <a:cs typeface="Rambla"/>
                <a:sym typeface="Rambla"/>
              </a:rPr>
              <a:t> = (</a:t>
            </a:r>
            <a:r>
              <a:rPr b="0" i="0" lang="en-US" sz="1800" u="sng" cap="none" strike="noStrike">
                <a:solidFill>
                  <a:srgbClr val="000000"/>
                </a:solidFill>
                <a:latin typeface="Rambla"/>
                <a:ea typeface="Rambla"/>
                <a:cs typeface="Rambla"/>
                <a:sym typeface="Rambla"/>
              </a:rPr>
              <a:t>idfactura</a:t>
            </a:r>
            <a:r>
              <a:rPr b="0" i="0" lang="en-US" sz="1800" u="none" cap="none" strike="noStrike">
                <a:solidFill>
                  <a:srgbClr val="000000"/>
                </a:solidFill>
                <a:latin typeface="Rambla"/>
                <a:ea typeface="Rambla"/>
                <a:cs typeface="Rambla"/>
                <a:sym typeface="Rambla"/>
              </a:rPr>
              <a:t>, fecha, montofactura, idcliente(FK))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Rambla"/>
              <a:buNone/>
            </a:pPr>
            <a:r>
              <a:rPr b="1" i="0" lang="en-US" sz="1800" u="none" cap="none" strike="noStrike">
                <a:solidFill>
                  <a:srgbClr val="000000"/>
                </a:solidFill>
                <a:latin typeface="Rambla"/>
                <a:ea typeface="Rambla"/>
                <a:cs typeface="Rambla"/>
                <a:sym typeface="Rambla"/>
              </a:rPr>
              <a:t>RENGLON</a:t>
            </a:r>
            <a:r>
              <a:rPr b="0" i="0" lang="en-US" sz="1800" u="none" cap="none" strike="noStrike">
                <a:solidFill>
                  <a:srgbClr val="000000"/>
                </a:solidFill>
                <a:latin typeface="Rambla"/>
                <a:ea typeface="Rambla"/>
                <a:cs typeface="Rambla"/>
                <a:sym typeface="Rambla"/>
              </a:rPr>
              <a:t> = (</a:t>
            </a:r>
            <a:r>
              <a:rPr b="0" i="0" lang="en-US" sz="1800" u="sng" cap="none" strike="noStrike">
                <a:solidFill>
                  <a:srgbClr val="000000"/>
                </a:solidFill>
                <a:latin typeface="Rambla"/>
                <a:ea typeface="Rambla"/>
                <a:cs typeface="Rambla"/>
                <a:sym typeface="Rambla"/>
              </a:rPr>
              <a:t>idfactura(FK), renglon</a:t>
            </a:r>
            <a:r>
              <a:rPr b="0" i="0" lang="en-US" sz="1800" u="none" cap="none" strike="noStrike">
                <a:solidFill>
                  <a:srgbClr val="000000"/>
                </a:solidFill>
                <a:latin typeface="Rambla"/>
                <a:ea typeface="Rambla"/>
                <a:cs typeface="Rambla"/>
                <a:sym typeface="Rambla"/>
              </a:rPr>
              <a:t>, idproducto(FK), precioventa, cantidad)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Rambla"/>
              <a:buNone/>
            </a:pPr>
            <a:r>
              <a:rPr b="1" i="0" lang="en-US" sz="1800" u="none" cap="none" strike="noStrike">
                <a:solidFill>
                  <a:srgbClr val="000000"/>
                </a:solidFill>
                <a:latin typeface="Rambla"/>
                <a:ea typeface="Rambla"/>
                <a:cs typeface="Rambla"/>
                <a:sym typeface="Rambla"/>
              </a:rPr>
              <a:t>LOCALIDAD</a:t>
            </a:r>
            <a:r>
              <a:rPr b="0" i="0" lang="en-US" sz="1800" u="none" cap="none" strike="noStrike">
                <a:solidFill>
                  <a:srgbClr val="000000"/>
                </a:solidFill>
                <a:latin typeface="Rambla"/>
                <a:ea typeface="Rambla"/>
                <a:cs typeface="Rambla"/>
                <a:sym typeface="Rambla"/>
              </a:rPr>
              <a:t> = (</a:t>
            </a:r>
            <a:r>
              <a:rPr b="0" i="0" lang="en-US" sz="1800" u="sng" cap="none" strike="noStrike">
                <a:solidFill>
                  <a:srgbClr val="000000"/>
                </a:solidFill>
                <a:latin typeface="Rambla"/>
                <a:ea typeface="Rambla"/>
                <a:cs typeface="Rambla"/>
                <a:sym typeface="Rambla"/>
              </a:rPr>
              <a:t>idlocalidad</a:t>
            </a:r>
            <a:r>
              <a:rPr b="0" i="0" lang="en-US" sz="1800" u="none" cap="none" strike="noStrike">
                <a:solidFill>
                  <a:srgbClr val="000000"/>
                </a:solidFill>
                <a:latin typeface="Rambla"/>
                <a:ea typeface="Rambla"/>
                <a:cs typeface="Rambla"/>
                <a:sym typeface="Rambla"/>
              </a:rPr>
              <a:t>, descripcion)</a:t>
            </a:r>
            <a:endParaRPr b="0" i="0" sz="14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24" name="Google Shape;224;g15e887a3875_0_0"/>
          <p:cNvSpPr txBox="1"/>
          <p:nvPr/>
        </p:nvSpPr>
        <p:spPr>
          <a:xfrm>
            <a:off x="2160575" y="3600450"/>
            <a:ext cx="9144000" cy="10143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Obtener identificador, fecha y monto de todas las facturas del mes de agosto del año 2025.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
        <p:nvSpPr>
          <p:cNvPr id="225" name="Google Shape;225;g15e887a3875_0_0"/>
          <p:cNvSpPr txBox="1"/>
          <p:nvPr/>
        </p:nvSpPr>
        <p:spPr>
          <a:xfrm>
            <a:off x="2160575" y="4614750"/>
            <a:ext cx="9144000" cy="1774200"/>
          </a:xfrm>
          <a:prstGeom prst="rect">
            <a:avLst/>
          </a:prstGeom>
          <a:noFill/>
          <a:ln>
            <a:noFill/>
          </a:ln>
        </p:spPr>
        <p:txBody>
          <a:bodyPr anchorCtr="0" anchor="t" bIns="45000" lIns="90000" spcFirstLastPara="1" rIns="90000" wrap="square" tIns="45000">
            <a:no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π</a:t>
            </a:r>
            <a:r>
              <a:rPr b="0" i="0" lang="en-US" sz="2400" u="none" cap="none" strike="noStrike">
                <a:solidFill>
                  <a:srgbClr val="000000"/>
                </a:solidFill>
                <a:latin typeface="Rambla"/>
                <a:ea typeface="Rambla"/>
                <a:cs typeface="Rambla"/>
                <a:sym typeface="Rambla"/>
              </a:rPr>
              <a:t> </a:t>
            </a:r>
            <a:r>
              <a:rPr b="0" baseline="-25000" i="0" lang="en-US" sz="2400" u="none" cap="none" strike="noStrike">
                <a:solidFill>
                  <a:srgbClr val="000000"/>
                </a:solidFill>
                <a:latin typeface="Rambla"/>
                <a:ea typeface="Rambla"/>
                <a:cs typeface="Rambla"/>
                <a:sym typeface="Rambla"/>
              </a:rPr>
              <a:t>idfactura, </a:t>
            </a:r>
            <a:r>
              <a:rPr b="0" baseline="-25000" i="0" lang="en-US" sz="2600" u="none" cap="none" strike="noStrike">
                <a:solidFill>
                  <a:srgbClr val="000000"/>
                </a:solidFill>
                <a:latin typeface="Rambla"/>
                <a:ea typeface="Rambla"/>
                <a:cs typeface="Rambla"/>
                <a:sym typeface="Rambla"/>
              </a:rPr>
              <a:t>fecha</a:t>
            </a:r>
            <a:r>
              <a:rPr b="0" baseline="-25000" i="0" lang="en-US" sz="2400" u="none" cap="none" strike="noStrike">
                <a:solidFill>
                  <a:srgbClr val="000000"/>
                </a:solidFill>
                <a:latin typeface="Rambla"/>
                <a:ea typeface="Rambla"/>
                <a:cs typeface="Rambla"/>
                <a:sym typeface="Rambla"/>
              </a:rPr>
              <a:t>, montofactura</a:t>
            </a:r>
            <a:r>
              <a:rPr b="0" i="0" lang="en-US" sz="2400" u="none" cap="none" strike="noStrike">
                <a:solidFill>
                  <a:srgbClr val="000000"/>
                </a:solidFill>
                <a:latin typeface="Rambla"/>
                <a:ea typeface="Rambla"/>
                <a:cs typeface="Rambla"/>
                <a:sym typeface="Rambla"/>
              </a:rPr>
              <a:t> (σ </a:t>
            </a:r>
            <a:r>
              <a:rPr b="0" baseline="-25000" i="0" lang="en-US" sz="2400" u="none" cap="none" strike="noStrike">
                <a:solidFill>
                  <a:srgbClr val="000000"/>
                </a:solidFill>
                <a:latin typeface="Rambla"/>
                <a:ea typeface="Rambla"/>
                <a:cs typeface="Rambla"/>
                <a:sym typeface="Rambla"/>
              </a:rPr>
              <a:t>(fecha &gt;= ’01/08/2025’)^(fecha &lt;= ’31/08/2025’) </a:t>
            </a:r>
            <a:r>
              <a:rPr b="0" i="0" lang="en-US" sz="2400" u="none" cap="none" strike="noStrike">
                <a:solidFill>
                  <a:srgbClr val="000000"/>
                </a:solidFill>
                <a:latin typeface="Rambla"/>
                <a:ea typeface="Rambla"/>
                <a:cs typeface="Rambla"/>
                <a:sym typeface="Rambla"/>
              </a:rPr>
              <a:t>(Factura) )</a:t>
            </a:r>
            <a:endParaRPr b="0" i="0" sz="14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1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32" name="Shape 232"/>
        <p:cNvGrpSpPr/>
        <p:nvPr/>
      </p:nvGrpSpPr>
      <p:grpSpPr>
        <a:xfrm>
          <a:off x="0" y="0"/>
          <a:ext cx="0" cy="0"/>
          <a:chOff x="0" y="0"/>
          <a:chExt cx="0" cy="0"/>
        </a:xfrm>
      </p:grpSpPr>
      <p:sp>
        <p:nvSpPr>
          <p:cNvPr id="233" name="Google Shape;233;p14"/>
          <p:cNvSpPr txBox="1"/>
          <p:nvPr/>
        </p:nvSpPr>
        <p:spPr>
          <a:xfrm>
            <a:off x="1508125" y="52228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34" name="Google Shape;234;p14"/>
          <p:cNvSpPr/>
          <p:nvPr/>
        </p:nvSpPr>
        <p:spPr>
          <a:xfrm>
            <a:off x="2749550" y="3471862"/>
            <a:ext cx="106997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35" name="Google Shape;235;p14"/>
          <p:cNvSpPr/>
          <p:nvPr/>
        </p:nvSpPr>
        <p:spPr>
          <a:xfrm>
            <a:off x="5214937" y="3482975"/>
            <a:ext cx="93662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36" name="Google Shape;236;p14"/>
          <p:cNvSpPr txBox="1"/>
          <p:nvPr/>
        </p:nvSpPr>
        <p:spPr>
          <a:xfrm>
            <a:off x="2024762" y="1203325"/>
            <a:ext cx="83058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400"/>
              <a:buFont typeface="Arial"/>
              <a:buNone/>
            </a:pPr>
            <a:r>
              <a:t/>
            </a:r>
            <a:endParaRPr b="1"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PRODUCTO</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idproducto</a:t>
            </a:r>
            <a:r>
              <a:rPr b="0" i="0" lang="en-US" sz="1800" u="none" cap="none" strike="noStrike">
                <a:solidFill>
                  <a:schemeClr val="dk1"/>
                </a:solidFill>
                <a:latin typeface="Rambla"/>
                <a:ea typeface="Rambla"/>
                <a:cs typeface="Rambla"/>
                <a:sym typeface="Rambla"/>
              </a:rPr>
              <a:t>, nombre, códigobarra, preciocosto)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CLIENTE </a:t>
            </a:r>
            <a:r>
              <a:rPr b="0" i="0" lang="en-US" sz="1800" u="none" cap="none" strike="noStrike">
                <a:solidFill>
                  <a:schemeClr val="dk1"/>
                </a:solidFill>
                <a:latin typeface="Rambla"/>
                <a:ea typeface="Rambla"/>
                <a:cs typeface="Rambla"/>
                <a:sym typeface="Rambla"/>
              </a:rPr>
              <a:t>= (</a:t>
            </a:r>
            <a:r>
              <a:rPr b="0" i="0" lang="en-US" sz="1800" u="sng" cap="none" strike="noStrike">
                <a:solidFill>
                  <a:schemeClr val="dk1"/>
                </a:solidFill>
                <a:latin typeface="Rambla"/>
                <a:ea typeface="Rambla"/>
                <a:cs typeface="Rambla"/>
                <a:sym typeface="Rambla"/>
              </a:rPr>
              <a:t>idcliente</a:t>
            </a:r>
            <a:r>
              <a:rPr b="0" i="0" lang="en-US" sz="1800" u="none" cap="none" strike="noStrike">
                <a:solidFill>
                  <a:schemeClr val="dk1"/>
                </a:solidFill>
                <a:latin typeface="Rambla"/>
                <a:ea typeface="Rambla"/>
                <a:cs typeface="Rambla"/>
                <a:sym typeface="Rambla"/>
              </a:rPr>
              <a:t>, nombre, dirección, idlocalidad(FK))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FACTURA</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a:t>
            </a:r>
            <a:r>
              <a:rPr b="0" i="0" lang="en-US" sz="1800" u="none" cap="none" strike="noStrike">
                <a:solidFill>
                  <a:schemeClr val="dk1"/>
                </a:solidFill>
                <a:latin typeface="Rambla"/>
                <a:ea typeface="Rambla"/>
                <a:cs typeface="Rambla"/>
                <a:sym typeface="Rambla"/>
              </a:rPr>
              <a:t>, fecha, montofactura, idcliente(FK))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RENGLON</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 renglon</a:t>
            </a:r>
            <a:r>
              <a:rPr b="0" i="0" lang="en-US" sz="1800" u="none" cap="none" strike="noStrike">
                <a:solidFill>
                  <a:schemeClr val="dk1"/>
                </a:solidFill>
                <a:latin typeface="Rambla"/>
                <a:ea typeface="Rambla"/>
                <a:cs typeface="Rambla"/>
                <a:sym typeface="Rambla"/>
              </a:rPr>
              <a:t>, idproducto(FK), precioventa, cantidad)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LOCALIDAD</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idlocalidad</a:t>
            </a:r>
            <a:r>
              <a:rPr b="0" i="0" lang="en-US" sz="1800" u="none" cap="none" strike="noStrike">
                <a:solidFill>
                  <a:schemeClr val="dk1"/>
                </a:solidFill>
                <a:latin typeface="Rambla"/>
                <a:ea typeface="Rambla"/>
                <a:cs typeface="Rambla"/>
                <a:sym typeface="Rambla"/>
              </a:rPr>
              <a:t>, descripcion)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t/>
            </a:r>
            <a:endParaRPr b="1"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37" name="Google Shape;237;p14"/>
          <p:cNvSpPr txBox="1"/>
          <p:nvPr/>
        </p:nvSpPr>
        <p:spPr>
          <a:xfrm>
            <a:off x="2024750" y="3332500"/>
            <a:ext cx="9647400" cy="6663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Obtener nombre y precio de costo de productos vendidos al cliente Jose Perez.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ctr">
              <a:lnSpc>
                <a:spcPct val="100000"/>
              </a:lnSpc>
              <a:spcBef>
                <a:spcPts val="0"/>
              </a:spcBef>
              <a:spcAft>
                <a:spcPts val="0"/>
              </a:spcAft>
              <a:buClr>
                <a:srgbClr val="000000"/>
              </a:buClr>
              <a:buSzPts val="2700"/>
              <a:buFont typeface="Rambla"/>
              <a:buNone/>
            </a:pPr>
            <a:r>
              <a:t/>
            </a:r>
            <a:endParaRPr b="0" i="0" sz="1400" u="none" cap="none" strike="noStrike">
              <a:solidFill>
                <a:srgbClr val="000000"/>
              </a:solidFill>
              <a:latin typeface="Arial"/>
              <a:ea typeface="Arial"/>
              <a:cs typeface="Arial"/>
              <a:sym typeface="Arial"/>
            </a:endParaRPr>
          </a:p>
        </p:txBody>
      </p:sp>
      <p:sp>
        <p:nvSpPr>
          <p:cNvPr id="238" name="Google Shape;238;p14"/>
          <p:cNvSpPr txBox="1"/>
          <p:nvPr/>
        </p:nvSpPr>
        <p:spPr>
          <a:xfrm>
            <a:off x="2024900" y="4381225"/>
            <a:ext cx="9647100" cy="20436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π</a:t>
            </a:r>
            <a:r>
              <a:rPr b="0" i="0" lang="en-US" sz="2400" u="none" cap="none" strike="noStrike">
                <a:solidFill>
                  <a:srgbClr val="000000"/>
                </a:solidFill>
                <a:latin typeface="Rambla"/>
                <a:ea typeface="Rambla"/>
                <a:cs typeface="Rambla"/>
                <a:sym typeface="Rambla"/>
              </a:rPr>
              <a:t>  </a:t>
            </a:r>
            <a:r>
              <a:rPr b="0" baseline="-25000" i="0" lang="en-US" sz="2400" u="none" cap="none" strike="noStrike">
                <a:solidFill>
                  <a:srgbClr val="000000"/>
                </a:solidFill>
                <a:latin typeface="Rambla"/>
                <a:ea typeface="Rambla"/>
                <a:cs typeface="Rambla"/>
                <a:sym typeface="Rambla"/>
              </a:rPr>
              <a:t>producto.nombre, preciocosto</a:t>
            </a:r>
            <a:r>
              <a:rPr b="0" i="0" lang="en-US" sz="2400" u="none" cap="none" strike="noStrike">
                <a:solidFill>
                  <a:srgbClr val="000000"/>
                </a:solidFill>
                <a:latin typeface="Rambla"/>
                <a:ea typeface="Rambla"/>
                <a:cs typeface="Rambla"/>
                <a:sym typeface="Rambla"/>
              </a:rPr>
              <a:t> (σ</a:t>
            </a:r>
            <a:r>
              <a:rPr b="0" baseline="-25000" i="0" lang="en-US" sz="2400" u="none" cap="none" strike="noStrike">
                <a:solidFill>
                  <a:srgbClr val="000000"/>
                </a:solidFill>
                <a:latin typeface="Rambla"/>
                <a:ea typeface="Rambla"/>
                <a:cs typeface="Rambla"/>
                <a:sym typeface="Rambla"/>
              </a:rPr>
              <a:t>(cliente.nombre = “Jose Perez”)</a:t>
            </a:r>
            <a:r>
              <a:rPr b="0" baseline="-25000" i="0" lang="en-US" sz="2400" u="none" cap="none" strike="noStrike">
                <a:solidFill>
                  <a:schemeClr val="dk1"/>
                </a:solidFill>
                <a:latin typeface="Rambla"/>
                <a:ea typeface="Rambla"/>
                <a:cs typeface="Rambla"/>
                <a:sym typeface="Rambla"/>
              </a:rPr>
              <a:t>^(renglon.idProducto=producto.idproducto)</a:t>
            </a:r>
            <a:r>
              <a:rPr b="0" i="0" lang="en-US" sz="2400" u="none" cap="none" strike="noStrike">
                <a:solidFill>
                  <a:srgbClr val="000000"/>
                </a:solidFill>
                <a:latin typeface="Rambla"/>
                <a:ea typeface="Rambla"/>
                <a:cs typeface="Rambla"/>
                <a:sym typeface="Rambla"/>
              </a:rPr>
              <a:t> (cliente |x| factura |x|renglon x producto)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ctr">
              <a:lnSpc>
                <a:spcPct val="100000"/>
              </a:lnSpc>
              <a:spcBef>
                <a:spcPts val="0"/>
              </a:spcBef>
              <a:spcAft>
                <a:spcPts val="0"/>
              </a:spcAft>
              <a:buClr>
                <a:srgbClr val="000000"/>
              </a:buClr>
              <a:buSzPts val="2700"/>
              <a:buFont typeface="Rambla"/>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45" name="Shape 245"/>
        <p:cNvGrpSpPr/>
        <p:nvPr/>
      </p:nvGrpSpPr>
      <p:grpSpPr>
        <a:xfrm>
          <a:off x="0" y="0"/>
          <a:ext cx="0" cy="0"/>
          <a:chOff x="0" y="0"/>
          <a:chExt cx="0" cy="0"/>
        </a:xfrm>
      </p:grpSpPr>
      <p:sp>
        <p:nvSpPr>
          <p:cNvPr id="246" name="Google Shape;246;g15e887a3875_0_11"/>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47" name="Google Shape;247;g15e887a3875_0_11"/>
          <p:cNvSpPr/>
          <p:nvPr/>
        </p:nvSpPr>
        <p:spPr>
          <a:xfrm>
            <a:off x="2749550" y="3471862"/>
            <a:ext cx="10701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48" name="Google Shape;248;g15e887a3875_0_11"/>
          <p:cNvSpPr/>
          <p:nvPr/>
        </p:nvSpPr>
        <p:spPr>
          <a:xfrm>
            <a:off x="5214937" y="3482975"/>
            <a:ext cx="9366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49" name="Google Shape;249;g15e887a3875_0_11"/>
          <p:cNvSpPr txBox="1"/>
          <p:nvPr/>
        </p:nvSpPr>
        <p:spPr>
          <a:xfrm>
            <a:off x="2024762" y="1203325"/>
            <a:ext cx="83058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400"/>
              <a:buFont typeface="Arial"/>
              <a:buNone/>
            </a:pPr>
            <a:r>
              <a:t/>
            </a:r>
            <a:endParaRPr b="1"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PRODUCTO</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idproducto</a:t>
            </a:r>
            <a:r>
              <a:rPr b="0" i="0" lang="en-US" sz="1800" u="none" cap="none" strike="noStrike">
                <a:solidFill>
                  <a:schemeClr val="dk1"/>
                </a:solidFill>
                <a:latin typeface="Rambla"/>
                <a:ea typeface="Rambla"/>
                <a:cs typeface="Rambla"/>
                <a:sym typeface="Rambla"/>
              </a:rPr>
              <a:t>, nombre, códigobarra, preciocosto)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CLIENTE </a:t>
            </a:r>
            <a:r>
              <a:rPr b="0" i="0" lang="en-US" sz="1800" u="none" cap="none" strike="noStrike">
                <a:solidFill>
                  <a:schemeClr val="dk1"/>
                </a:solidFill>
                <a:latin typeface="Rambla"/>
                <a:ea typeface="Rambla"/>
                <a:cs typeface="Rambla"/>
                <a:sym typeface="Rambla"/>
              </a:rPr>
              <a:t>= (</a:t>
            </a:r>
            <a:r>
              <a:rPr b="0" i="0" lang="en-US" sz="1800" u="sng" cap="none" strike="noStrike">
                <a:solidFill>
                  <a:schemeClr val="dk1"/>
                </a:solidFill>
                <a:latin typeface="Rambla"/>
                <a:ea typeface="Rambla"/>
                <a:cs typeface="Rambla"/>
                <a:sym typeface="Rambla"/>
              </a:rPr>
              <a:t>idcliente</a:t>
            </a:r>
            <a:r>
              <a:rPr b="0" i="0" lang="en-US" sz="1800" u="none" cap="none" strike="noStrike">
                <a:solidFill>
                  <a:schemeClr val="dk1"/>
                </a:solidFill>
                <a:latin typeface="Rambla"/>
                <a:ea typeface="Rambla"/>
                <a:cs typeface="Rambla"/>
                <a:sym typeface="Rambla"/>
              </a:rPr>
              <a:t>, nombre, dirección, idlocalidad(FK))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FACTURA</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a:t>
            </a:r>
            <a:r>
              <a:rPr b="0" i="0" lang="en-US" sz="1800" u="none" cap="none" strike="noStrike">
                <a:solidFill>
                  <a:schemeClr val="dk1"/>
                </a:solidFill>
                <a:latin typeface="Rambla"/>
                <a:ea typeface="Rambla"/>
                <a:cs typeface="Rambla"/>
                <a:sym typeface="Rambla"/>
              </a:rPr>
              <a:t>, fecha, montofactura, idcliente(FK))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RENGLON</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 renglon</a:t>
            </a:r>
            <a:r>
              <a:rPr b="0" i="0" lang="en-US" sz="1800" u="none" cap="none" strike="noStrike">
                <a:solidFill>
                  <a:schemeClr val="dk1"/>
                </a:solidFill>
                <a:latin typeface="Rambla"/>
                <a:ea typeface="Rambla"/>
                <a:cs typeface="Rambla"/>
                <a:sym typeface="Rambla"/>
              </a:rPr>
              <a:t>, idproducto(FK), precioventa, cantidad)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LOCALIDAD</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idlocalidad</a:t>
            </a:r>
            <a:r>
              <a:rPr b="0" i="0" lang="en-US" sz="1800" u="none" cap="none" strike="noStrike">
                <a:solidFill>
                  <a:schemeClr val="dk1"/>
                </a:solidFill>
                <a:latin typeface="Rambla"/>
                <a:ea typeface="Rambla"/>
                <a:cs typeface="Rambla"/>
                <a:sym typeface="Rambla"/>
              </a:rPr>
              <a:t>, descripcion)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t/>
            </a:r>
            <a:endParaRPr b="1"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50" name="Google Shape;250;g15e887a3875_0_11"/>
          <p:cNvSpPr txBox="1"/>
          <p:nvPr/>
        </p:nvSpPr>
        <p:spPr>
          <a:xfrm>
            <a:off x="1944687" y="3384550"/>
            <a:ext cx="9647100" cy="39591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Obtener nombre y precio de costo de productos vendido al cliente Jose Perez pero no vendidos a Juan Garcia.</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π</a:t>
            </a:r>
            <a:r>
              <a:rPr b="0" i="0" lang="en-US" sz="2400" u="none" cap="none" strike="noStrike">
                <a:solidFill>
                  <a:srgbClr val="000000"/>
                </a:solidFill>
                <a:latin typeface="Rambla"/>
                <a:ea typeface="Rambla"/>
                <a:cs typeface="Rambla"/>
                <a:sym typeface="Rambla"/>
              </a:rPr>
              <a:t> </a:t>
            </a:r>
            <a:r>
              <a:rPr b="0" baseline="-25000" i="0" lang="en-US" sz="2400" u="none" cap="none" strike="noStrike">
                <a:solidFill>
                  <a:srgbClr val="000000"/>
                </a:solidFill>
                <a:latin typeface="Rambla"/>
                <a:ea typeface="Rambla"/>
                <a:cs typeface="Rambla"/>
                <a:sym typeface="Rambla"/>
              </a:rPr>
              <a:t>producto.nombre, preciocosto</a:t>
            </a:r>
            <a:r>
              <a:rPr b="0" i="0" lang="en-US" sz="2400" u="none" cap="none" strike="noStrike">
                <a:solidFill>
                  <a:srgbClr val="000000"/>
                </a:solidFill>
                <a:latin typeface="Rambla"/>
                <a:ea typeface="Rambla"/>
                <a:cs typeface="Rambla"/>
                <a:sym typeface="Rambla"/>
              </a:rPr>
              <a:t> (σ</a:t>
            </a:r>
            <a:r>
              <a:rPr b="0" baseline="-25000" i="0" lang="en-US" sz="2400" u="none" cap="none" strike="noStrike">
                <a:solidFill>
                  <a:srgbClr val="000000"/>
                </a:solidFill>
                <a:latin typeface="Rambla"/>
                <a:ea typeface="Rambla"/>
                <a:cs typeface="Rambla"/>
                <a:sym typeface="Rambla"/>
              </a:rPr>
              <a:t>(cliente.nombre = “Jose Perez”)</a:t>
            </a:r>
            <a:r>
              <a:rPr b="0" baseline="-25000" i="0" lang="en-US" sz="2400" u="none" cap="none" strike="noStrike">
                <a:solidFill>
                  <a:schemeClr val="dk1"/>
                </a:solidFill>
                <a:latin typeface="Rambla"/>
                <a:ea typeface="Rambla"/>
                <a:cs typeface="Rambla"/>
                <a:sym typeface="Rambla"/>
              </a:rPr>
              <a:t>^(renglon.idProducto=producto.idproducto)</a:t>
            </a:r>
            <a:r>
              <a:rPr b="0" i="0" lang="en-US" sz="2400" u="none" cap="none" strike="noStrike">
                <a:solidFill>
                  <a:srgbClr val="000000"/>
                </a:solidFill>
                <a:latin typeface="Rambla"/>
                <a:ea typeface="Rambla"/>
                <a:cs typeface="Rambla"/>
                <a:sym typeface="Rambla"/>
              </a:rPr>
              <a:t> (cliente |x| factura |x|renglon x producto)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chemeClr val="dk1"/>
              </a:buClr>
              <a:buSzPts val="2400"/>
              <a:buFont typeface="Noto Sans Symbols"/>
              <a:buNone/>
            </a:pPr>
            <a:r>
              <a:rPr b="0" i="0" lang="en-US" sz="2400" u="none" cap="none" strike="noStrike">
                <a:solidFill>
                  <a:srgbClr val="000000"/>
                </a:solidFill>
                <a:latin typeface="Rambla"/>
                <a:ea typeface="Rambla"/>
                <a:cs typeface="Rambla"/>
                <a:sym typeface="Rambla"/>
              </a:rPr>
              <a:t>-</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chemeClr val="dk1"/>
              </a:buClr>
              <a:buSzPts val="2400"/>
              <a:buFont typeface="Noto Sans Symbols"/>
              <a:buNone/>
            </a:pPr>
            <a:r>
              <a:rPr b="0" i="0" lang="en-US" sz="2400" u="none" cap="none" strike="noStrike">
                <a:solidFill>
                  <a:schemeClr val="dk1"/>
                </a:solidFill>
                <a:latin typeface="Noto Sans Symbols"/>
                <a:ea typeface="Noto Sans Symbols"/>
                <a:cs typeface="Noto Sans Symbols"/>
                <a:sym typeface="Noto Sans Symbols"/>
              </a:rPr>
              <a:t>π</a:t>
            </a:r>
            <a:r>
              <a:rPr b="0" i="0" lang="en-US" sz="2400" u="none" cap="none" strike="noStrike">
                <a:solidFill>
                  <a:schemeClr val="dk1"/>
                </a:solidFill>
                <a:latin typeface="Rambla"/>
                <a:ea typeface="Rambla"/>
                <a:cs typeface="Rambla"/>
                <a:sym typeface="Rambla"/>
              </a:rPr>
              <a:t> </a:t>
            </a:r>
            <a:r>
              <a:rPr b="0" baseline="-25000" i="0" lang="en-US" sz="2400" u="none" cap="none" strike="noStrike">
                <a:solidFill>
                  <a:schemeClr val="dk1"/>
                </a:solidFill>
                <a:latin typeface="Rambla"/>
                <a:ea typeface="Rambla"/>
                <a:cs typeface="Rambla"/>
                <a:sym typeface="Rambla"/>
              </a:rPr>
              <a:t>producto.nombre, preciocosto</a:t>
            </a:r>
            <a:r>
              <a:rPr b="0" i="0" lang="en-US" sz="2400" u="none" cap="none" strike="noStrike">
                <a:solidFill>
                  <a:schemeClr val="dk1"/>
                </a:solidFill>
                <a:latin typeface="Rambla"/>
                <a:ea typeface="Rambla"/>
                <a:cs typeface="Rambla"/>
                <a:sym typeface="Rambla"/>
              </a:rPr>
              <a:t> (σ</a:t>
            </a:r>
            <a:r>
              <a:rPr b="0" baseline="-25000" i="0" lang="en-US" sz="2400" u="none" cap="none" strike="noStrike">
                <a:solidFill>
                  <a:schemeClr val="dk1"/>
                </a:solidFill>
                <a:latin typeface="Rambla"/>
                <a:ea typeface="Rambla"/>
                <a:cs typeface="Rambla"/>
                <a:sym typeface="Rambla"/>
              </a:rPr>
              <a:t>(cliente.nombre = “Juan Garcia”)^(renglon.idProducto=producto.idproducto)</a:t>
            </a:r>
            <a:r>
              <a:rPr b="0" i="0" lang="en-US" sz="2400" u="none" cap="none" strike="noStrike">
                <a:solidFill>
                  <a:schemeClr val="dk1"/>
                </a:solidFill>
                <a:latin typeface="Rambla"/>
                <a:ea typeface="Rambla"/>
                <a:cs typeface="Rambla"/>
                <a:sym typeface="Rambla"/>
              </a:rPr>
              <a:t> (cliente |x| factura |x|renglon x producto)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ctr">
              <a:lnSpc>
                <a:spcPct val="100000"/>
              </a:lnSpc>
              <a:spcBef>
                <a:spcPts val="0"/>
              </a:spcBef>
              <a:spcAft>
                <a:spcPts val="0"/>
              </a:spcAft>
              <a:buClr>
                <a:srgbClr val="000000"/>
              </a:buClr>
              <a:buSzPts val="2700"/>
              <a:buFont typeface="Rambla"/>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57" name="Shape 257"/>
        <p:cNvGrpSpPr/>
        <p:nvPr/>
      </p:nvGrpSpPr>
      <p:grpSpPr>
        <a:xfrm>
          <a:off x="0" y="0"/>
          <a:ext cx="0" cy="0"/>
          <a:chOff x="0" y="0"/>
          <a:chExt cx="0" cy="0"/>
        </a:xfrm>
      </p:grpSpPr>
      <p:sp>
        <p:nvSpPr>
          <p:cNvPr id="258" name="Google Shape;258;p15"/>
          <p:cNvSpPr txBox="1"/>
          <p:nvPr/>
        </p:nvSpPr>
        <p:spPr>
          <a:xfrm>
            <a:off x="1508125" y="52228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59" name="Google Shape;259;p15"/>
          <p:cNvSpPr/>
          <p:nvPr/>
        </p:nvSpPr>
        <p:spPr>
          <a:xfrm>
            <a:off x="2749550" y="3471862"/>
            <a:ext cx="106997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60" name="Google Shape;260;p15"/>
          <p:cNvSpPr/>
          <p:nvPr/>
        </p:nvSpPr>
        <p:spPr>
          <a:xfrm>
            <a:off x="5214937" y="3482975"/>
            <a:ext cx="93662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61" name="Google Shape;261;p15"/>
          <p:cNvSpPr txBox="1"/>
          <p:nvPr/>
        </p:nvSpPr>
        <p:spPr>
          <a:xfrm>
            <a:off x="2087562" y="1203325"/>
            <a:ext cx="8305800" cy="2468562"/>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400"/>
              <a:buFont typeface="Arial"/>
              <a:buNone/>
            </a:pPr>
            <a:r>
              <a:t/>
            </a:r>
            <a:endParaRPr b="1"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PRODUCTO</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idproducto</a:t>
            </a:r>
            <a:r>
              <a:rPr b="0" i="0" lang="en-US" sz="1800" u="none" cap="none" strike="noStrike">
                <a:solidFill>
                  <a:schemeClr val="dk1"/>
                </a:solidFill>
                <a:latin typeface="Rambla"/>
                <a:ea typeface="Rambla"/>
                <a:cs typeface="Rambla"/>
                <a:sym typeface="Rambla"/>
              </a:rPr>
              <a:t>, nombre, códigobarra, preciocosto)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CLIENTE</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idcliente</a:t>
            </a:r>
            <a:r>
              <a:rPr b="0" i="0" lang="en-US" sz="1800" u="none" cap="none" strike="noStrike">
                <a:solidFill>
                  <a:schemeClr val="dk1"/>
                </a:solidFill>
                <a:latin typeface="Rambla"/>
                <a:ea typeface="Rambla"/>
                <a:cs typeface="Rambla"/>
                <a:sym typeface="Rambla"/>
              </a:rPr>
              <a:t>, nombre, dirección, idlocalidad(FK))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FACTURA</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a:t>
            </a:r>
            <a:r>
              <a:rPr b="0" i="0" lang="en-US" sz="1800" u="none" cap="none" strike="noStrike">
                <a:solidFill>
                  <a:schemeClr val="dk1"/>
                </a:solidFill>
                <a:latin typeface="Rambla"/>
                <a:ea typeface="Rambla"/>
                <a:cs typeface="Rambla"/>
                <a:sym typeface="Rambla"/>
              </a:rPr>
              <a:t>, fecha, montofactura, idcliente(FK))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RENGLON</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 renglon</a:t>
            </a:r>
            <a:r>
              <a:rPr b="0" i="0" lang="en-US" sz="1800" u="none" cap="none" strike="noStrike">
                <a:solidFill>
                  <a:schemeClr val="dk1"/>
                </a:solidFill>
                <a:latin typeface="Rambla"/>
                <a:ea typeface="Rambla"/>
                <a:cs typeface="Rambla"/>
                <a:sym typeface="Rambla"/>
              </a:rPr>
              <a:t>, idproducto(FK), precioventa, cantidad)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LOCALIDAD</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idlocalidad</a:t>
            </a:r>
            <a:r>
              <a:rPr b="0" i="0" lang="en-US" sz="1800" u="none" cap="none" strike="noStrike">
                <a:solidFill>
                  <a:schemeClr val="dk1"/>
                </a:solidFill>
                <a:latin typeface="Rambla"/>
                <a:ea typeface="Rambla"/>
                <a:cs typeface="Rambla"/>
                <a:sym typeface="Rambla"/>
              </a:rPr>
              <a:t>, descripcion)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t/>
            </a:r>
            <a:endParaRPr b="1"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62" name="Google Shape;262;p15"/>
          <p:cNvSpPr txBox="1"/>
          <p:nvPr/>
        </p:nvSpPr>
        <p:spPr>
          <a:xfrm>
            <a:off x="2089150" y="3236906"/>
            <a:ext cx="9144000" cy="14955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Obtener el nombre y la dirección de aquellos clientes que hayan comprado productos con un precio de costo menor a $100.</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700"/>
              <a:buFont typeface="Arial"/>
              <a:buNone/>
            </a:pPr>
            <a:r>
              <a:t/>
            </a:r>
            <a:endParaRPr b="0" i="0" sz="27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2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
        <p:nvSpPr>
          <p:cNvPr id="263" name="Google Shape;263;p15"/>
          <p:cNvSpPr txBox="1"/>
          <p:nvPr/>
        </p:nvSpPr>
        <p:spPr>
          <a:xfrm>
            <a:off x="2362200" y="4848482"/>
            <a:ext cx="9144000" cy="12249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π</a:t>
            </a:r>
            <a:r>
              <a:rPr b="0" i="0" lang="en-US" sz="2400" u="none" cap="none" strike="noStrike">
                <a:solidFill>
                  <a:srgbClr val="000000"/>
                </a:solidFill>
                <a:latin typeface="Rambla"/>
                <a:ea typeface="Rambla"/>
                <a:cs typeface="Rambla"/>
                <a:sym typeface="Rambla"/>
              </a:rPr>
              <a:t> </a:t>
            </a:r>
            <a:r>
              <a:rPr b="0" baseline="-25000" i="0" lang="en-US" sz="2400" u="none" cap="none" strike="noStrike">
                <a:solidFill>
                  <a:srgbClr val="000000"/>
                </a:solidFill>
                <a:latin typeface="Rambla"/>
                <a:ea typeface="Rambla"/>
                <a:cs typeface="Rambla"/>
                <a:sym typeface="Rambla"/>
              </a:rPr>
              <a:t>nombre, direccion</a:t>
            </a:r>
            <a:r>
              <a:rPr b="0" i="0" lang="en-US" sz="2400" u="none" cap="none" strike="noStrike">
                <a:solidFill>
                  <a:srgbClr val="000000"/>
                </a:solidFill>
                <a:latin typeface="Rambla"/>
                <a:ea typeface="Rambla"/>
                <a:cs typeface="Rambla"/>
                <a:sym typeface="Rambla"/>
              </a:rPr>
              <a:t> ((</a:t>
            </a:r>
            <a:r>
              <a:rPr b="0" i="0" lang="en-US" sz="2400" u="none" cap="none" strike="noStrike">
                <a:solidFill>
                  <a:srgbClr val="000000"/>
                </a:solidFill>
                <a:latin typeface="Noto Sans Symbols"/>
                <a:ea typeface="Noto Sans Symbols"/>
                <a:cs typeface="Noto Sans Symbols"/>
                <a:sym typeface="Noto Sans Symbols"/>
              </a:rPr>
              <a:t>π</a:t>
            </a:r>
            <a:r>
              <a:rPr b="0" baseline="-25000" i="0" lang="en-US" sz="2400" u="none" cap="none" strike="noStrike">
                <a:solidFill>
                  <a:srgbClr val="000000"/>
                </a:solidFill>
                <a:latin typeface="Rambla"/>
                <a:ea typeface="Rambla"/>
                <a:cs typeface="Rambla"/>
                <a:sym typeface="Rambla"/>
              </a:rPr>
              <a:t>idfactura</a:t>
            </a:r>
            <a:r>
              <a:rPr b="0" i="0" lang="en-US" sz="2400" u="none" cap="none" strike="noStrike">
                <a:solidFill>
                  <a:srgbClr val="000000"/>
                </a:solidFill>
                <a:latin typeface="Rambla"/>
                <a:ea typeface="Rambla"/>
                <a:cs typeface="Rambla"/>
                <a:sym typeface="Rambla"/>
              </a:rPr>
              <a:t>((σ</a:t>
            </a:r>
            <a:r>
              <a:rPr b="0" baseline="-25000" i="0" lang="en-US" sz="2400" u="none" cap="none" strike="noStrike">
                <a:solidFill>
                  <a:srgbClr val="000000"/>
                </a:solidFill>
                <a:latin typeface="Rambla"/>
                <a:ea typeface="Rambla"/>
                <a:cs typeface="Rambla"/>
                <a:sym typeface="Rambla"/>
              </a:rPr>
              <a:t>(preciocosto &lt; 100)</a:t>
            </a:r>
            <a:r>
              <a:rPr b="0" i="0" lang="en-US" sz="2400" u="none" cap="none" strike="noStrike">
                <a:solidFill>
                  <a:srgbClr val="000000"/>
                </a:solidFill>
                <a:latin typeface="Rambla"/>
                <a:ea typeface="Rambla"/>
                <a:cs typeface="Rambla"/>
                <a:sym typeface="Rambla"/>
              </a:rPr>
              <a:t> (Producto) ) |x| Renglon) ) |x| Factura) |x| Cliente)</a:t>
            </a:r>
            <a:endParaRPr b="0" i="0" sz="1400" u="none" cap="none" strike="noStrike">
              <a:solidFill>
                <a:srgbClr val="000000"/>
              </a:solidFill>
              <a:latin typeface="Arial"/>
              <a:ea typeface="Arial"/>
              <a:cs typeface="Arial"/>
              <a:sym typeface="Arial"/>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70" name="Shape 270"/>
        <p:cNvGrpSpPr/>
        <p:nvPr/>
      </p:nvGrpSpPr>
      <p:grpSpPr>
        <a:xfrm>
          <a:off x="0" y="0"/>
          <a:ext cx="0" cy="0"/>
          <a:chOff x="0" y="0"/>
          <a:chExt cx="0" cy="0"/>
        </a:xfrm>
      </p:grpSpPr>
      <p:sp>
        <p:nvSpPr>
          <p:cNvPr id="271" name="Google Shape;271;p17"/>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72" name="Google Shape;272;p17"/>
          <p:cNvSpPr/>
          <p:nvPr/>
        </p:nvSpPr>
        <p:spPr>
          <a:xfrm>
            <a:off x="2749550" y="3471862"/>
            <a:ext cx="10701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73" name="Google Shape;273;p17"/>
          <p:cNvSpPr/>
          <p:nvPr/>
        </p:nvSpPr>
        <p:spPr>
          <a:xfrm>
            <a:off x="5214937" y="3482975"/>
            <a:ext cx="9366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74" name="Google Shape;274;p17"/>
          <p:cNvSpPr txBox="1"/>
          <p:nvPr/>
        </p:nvSpPr>
        <p:spPr>
          <a:xfrm>
            <a:off x="2087562" y="1203325"/>
            <a:ext cx="83058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400"/>
              <a:buFont typeface="Arial"/>
              <a:buNone/>
            </a:pPr>
            <a:r>
              <a:t/>
            </a:r>
            <a:endParaRPr b="1"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PRODUCTO</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idproducto</a:t>
            </a:r>
            <a:r>
              <a:rPr b="0" i="0" lang="en-US" sz="1800" u="none" cap="none" strike="noStrike">
                <a:solidFill>
                  <a:schemeClr val="dk1"/>
                </a:solidFill>
                <a:latin typeface="Rambla"/>
                <a:ea typeface="Rambla"/>
                <a:cs typeface="Rambla"/>
                <a:sym typeface="Rambla"/>
              </a:rPr>
              <a:t>, nombre, códigobarra, preciocosto)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CLIENTE</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idcliente</a:t>
            </a:r>
            <a:r>
              <a:rPr b="0" i="0" lang="en-US" sz="1800" u="none" cap="none" strike="noStrike">
                <a:solidFill>
                  <a:schemeClr val="dk1"/>
                </a:solidFill>
                <a:latin typeface="Rambla"/>
                <a:ea typeface="Rambla"/>
                <a:cs typeface="Rambla"/>
                <a:sym typeface="Rambla"/>
              </a:rPr>
              <a:t>, nombre, dirección, idlocalidad(FK))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FACTURA</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a:t>
            </a:r>
            <a:r>
              <a:rPr b="0" i="0" lang="en-US" sz="1800" u="none" cap="none" strike="noStrike">
                <a:solidFill>
                  <a:schemeClr val="dk1"/>
                </a:solidFill>
                <a:latin typeface="Rambla"/>
                <a:ea typeface="Rambla"/>
                <a:cs typeface="Rambla"/>
                <a:sym typeface="Rambla"/>
              </a:rPr>
              <a:t>, fecha, montofactura, idcliente(FK))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RENGLON</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 renglon</a:t>
            </a:r>
            <a:r>
              <a:rPr b="0" i="0" lang="en-US" sz="1800" u="none" cap="none" strike="noStrike">
                <a:solidFill>
                  <a:schemeClr val="dk1"/>
                </a:solidFill>
                <a:latin typeface="Rambla"/>
                <a:ea typeface="Rambla"/>
                <a:cs typeface="Rambla"/>
                <a:sym typeface="Rambla"/>
              </a:rPr>
              <a:t>, idproducto(FK), precioventa, cantidad)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LOCALIDAD</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idlocalidad</a:t>
            </a:r>
            <a:r>
              <a:rPr b="0" i="0" lang="en-US" sz="1800" u="none" cap="none" strike="noStrike">
                <a:solidFill>
                  <a:schemeClr val="dk1"/>
                </a:solidFill>
                <a:latin typeface="Rambla"/>
                <a:ea typeface="Rambla"/>
                <a:cs typeface="Rambla"/>
                <a:sym typeface="Rambla"/>
              </a:rPr>
              <a:t>, descripcion)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t/>
            </a:r>
            <a:endParaRPr b="1"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75" name="Google Shape;275;p17"/>
          <p:cNvSpPr txBox="1"/>
          <p:nvPr/>
        </p:nvSpPr>
        <p:spPr>
          <a:xfrm>
            <a:off x="325375" y="3188150"/>
            <a:ext cx="11520600" cy="7998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Dar de baja las facturas del cliente ‘Ramon Perez’.</a:t>
            </a:r>
            <a:endParaRPr b="0" i="0" sz="2700" u="none" cap="none" strike="noStrike">
              <a:solidFill>
                <a:srgbClr val="000000"/>
              </a:solidFill>
              <a:latin typeface="Rambla"/>
              <a:ea typeface="Rambla"/>
              <a:cs typeface="Rambla"/>
              <a:sym typeface="Rambla"/>
            </a:endParaRPr>
          </a:p>
          <a:p>
            <a:pPr indent="0" lvl="0" marL="204786"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FFFFFF"/>
              </a:buClr>
              <a:buSzPts val="27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Rambla"/>
              <a:buNone/>
            </a:pPr>
            <a:r>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
        <p:nvSpPr>
          <p:cNvPr id="276" name="Google Shape;276;p17"/>
          <p:cNvSpPr txBox="1"/>
          <p:nvPr/>
        </p:nvSpPr>
        <p:spPr>
          <a:xfrm>
            <a:off x="480150" y="3778750"/>
            <a:ext cx="11520600" cy="35052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Rambla"/>
                <a:ea typeface="Rambla"/>
                <a:cs typeface="Rambla"/>
                <a:sym typeface="Rambla"/>
              </a:rPr>
              <a:t>FacturasDePerez</a:t>
            </a:r>
            <a:r>
              <a:rPr b="0" i="0" lang="en-US" sz="2400" u="none" cap="none" strike="noStrike">
                <a:solidFill>
                  <a:schemeClr val="dk1"/>
                </a:solidFill>
                <a:latin typeface="Noto Sans Symbols"/>
                <a:ea typeface="Noto Sans Symbols"/>
                <a:cs typeface="Noto Sans Symbols"/>
                <a:sym typeface="Noto Sans Symbols"/>
              </a:rPr>
              <a:t>⇐</a:t>
            </a:r>
            <a:r>
              <a:rPr b="0" i="0" lang="en-US" sz="2800" u="none" cap="none" strike="noStrike">
                <a:solidFill>
                  <a:schemeClr val="dk1"/>
                </a:solidFill>
                <a:latin typeface="Noto Sans Symbols"/>
                <a:ea typeface="Noto Sans Symbols"/>
                <a:cs typeface="Noto Sans Symbols"/>
                <a:sym typeface="Noto Sans Symbols"/>
              </a:rPr>
              <a:t>π</a:t>
            </a:r>
            <a:r>
              <a:rPr b="0" i="0" lang="en-US" sz="2800" u="none" cap="none" strike="noStrike">
                <a:solidFill>
                  <a:schemeClr val="dk1"/>
                </a:solidFill>
                <a:latin typeface="Rambla"/>
                <a:ea typeface="Rambla"/>
                <a:cs typeface="Rambla"/>
                <a:sym typeface="Rambla"/>
              </a:rPr>
              <a:t> </a:t>
            </a:r>
            <a:r>
              <a:rPr b="0" baseline="-25000" i="0" lang="en-US" sz="2800" u="none" cap="none" strike="noStrike">
                <a:solidFill>
                  <a:schemeClr val="dk1"/>
                </a:solidFill>
                <a:latin typeface="Rambla"/>
                <a:ea typeface="Rambla"/>
                <a:cs typeface="Rambla"/>
                <a:sym typeface="Rambla"/>
              </a:rPr>
              <a:t>idfactura, fecha, montofactura,idCliente</a:t>
            </a:r>
            <a:r>
              <a:rPr b="0" i="0" lang="en-US" sz="2800" u="none" cap="none" strike="noStrike">
                <a:solidFill>
                  <a:schemeClr val="dk1"/>
                </a:solidFill>
                <a:latin typeface="Rambla"/>
                <a:ea typeface="Rambla"/>
                <a:cs typeface="Rambla"/>
                <a:sym typeface="Rambla"/>
              </a:rPr>
              <a:t> </a:t>
            </a:r>
            <a:r>
              <a:rPr b="0" i="0" lang="en-US" sz="2400" u="none" cap="none" strike="noStrike">
                <a:solidFill>
                  <a:schemeClr val="dk1"/>
                </a:solidFill>
                <a:latin typeface="Rambla"/>
                <a:ea typeface="Rambla"/>
                <a:cs typeface="Rambla"/>
                <a:sym typeface="Rambla"/>
              </a:rPr>
              <a:t>Factura |x| </a:t>
            </a:r>
            <a:r>
              <a:rPr lang="en-US" sz="2400">
                <a:solidFill>
                  <a:schemeClr val="dk1"/>
                </a:solidFill>
                <a:latin typeface="Rambla"/>
                <a:ea typeface="Rambla"/>
                <a:cs typeface="Rambla"/>
                <a:sym typeface="Rambla"/>
              </a:rPr>
              <a:t>(</a:t>
            </a:r>
            <a:r>
              <a:rPr b="0" i="0" lang="en-US" sz="2400" u="none" cap="none" strike="noStrike">
                <a:solidFill>
                  <a:schemeClr val="dk1"/>
                </a:solidFill>
                <a:latin typeface="Rambla"/>
                <a:ea typeface="Rambla"/>
                <a:cs typeface="Rambla"/>
                <a:sym typeface="Rambla"/>
              </a:rPr>
              <a:t>σ</a:t>
            </a:r>
            <a:r>
              <a:rPr b="0" baseline="-25000" i="0" lang="en-US" sz="2400" u="none" cap="none" strike="noStrike">
                <a:solidFill>
                  <a:schemeClr val="dk1"/>
                </a:solidFill>
                <a:latin typeface="Rambla"/>
                <a:ea typeface="Rambla"/>
                <a:cs typeface="Rambla"/>
                <a:sym typeface="Rambla"/>
              </a:rPr>
              <a:t>(nombre=’Ramon Perez’)</a:t>
            </a:r>
            <a:r>
              <a:rPr b="0" i="0" lang="en-US" sz="2400" u="none" cap="none" strike="noStrike">
                <a:solidFill>
                  <a:schemeClr val="dk1"/>
                </a:solidFill>
                <a:latin typeface="Rambla"/>
                <a:ea typeface="Rambla"/>
                <a:cs typeface="Rambla"/>
                <a:sym typeface="Rambla"/>
              </a:rPr>
              <a:t>(Cliente))</a:t>
            </a:r>
            <a:endParaRPr b="0" i="0" sz="1400" u="none" cap="none" strike="noStrike">
              <a:solidFill>
                <a:schemeClr val="dk1"/>
              </a:solidFill>
              <a:latin typeface="Arial"/>
              <a:ea typeface="Arial"/>
              <a:cs typeface="Arial"/>
              <a:sym typeface="Arial"/>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ambla"/>
                <a:ea typeface="Rambla"/>
                <a:cs typeface="Rambla"/>
                <a:sym typeface="Rambla"/>
              </a:rPr>
              <a:t>RenglonesDePerez</a:t>
            </a:r>
            <a:r>
              <a:rPr b="0" i="0" lang="en-US" sz="2400" u="none" cap="none" strike="noStrike">
                <a:solidFill>
                  <a:schemeClr val="dk1"/>
                </a:solidFill>
                <a:latin typeface="Noto Sans Symbols"/>
                <a:ea typeface="Noto Sans Symbols"/>
                <a:cs typeface="Noto Sans Symbols"/>
                <a:sym typeface="Noto Sans Symbols"/>
              </a:rPr>
              <a:t>⇐</a:t>
            </a:r>
            <a:r>
              <a:rPr b="0" i="0" lang="en-US" sz="2800" u="none" cap="none" strike="noStrike">
                <a:solidFill>
                  <a:schemeClr val="dk1"/>
                </a:solidFill>
                <a:latin typeface="Noto Sans Symbols"/>
                <a:ea typeface="Noto Sans Symbols"/>
                <a:cs typeface="Noto Sans Symbols"/>
                <a:sym typeface="Noto Sans Symbols"/>
              </a:rPr>
              <a:t>π</a:t>
            </a:r>
            <a:r>
              <a:rPr b="0" i="0" lang="en-US" sz="2800" u="none" cap="none" strike="noStrike">
                <a:solidFill>
                  <a:schemeClr val="dk1"/>
                </a:solidFill>
                <a:latin typeface="Rambla"/>
                <a:ea typeface="Rambla"/>
                <a:cs typeface="Rambla"/>
                <a:sym typeface="Rambla"/>
              </a:rPr>
              <a:t> </a:t>
            </a:r>
            <a:r>
              <a:rPr b="0" baseline="-25000" i="0" lang="en-US" sz="2800" u="none" cap="none" strike="noStrike">
                <a:solidFill>
                  <a:schemeClr val="dk1"/>
                </a:solidFill>
                <a:latin typeface="Rambla"/>
                <a:ea typeface="Rambla"/>
                <a:cs typeface="Rambla"/>
                <a:sym typeface="Rambla"/>
              </a:rPr>
              <a:t>idfactura, renglon,idProducto, precioVenta, cantidad</a:t>
            </a:r>
            <a:r>
              <a:rPr b="0" i="0" lang="en-US" sz="2800" u="none" cap="none" strike="noStrike">
                <a:solidFill>
                  <a:schemeClr val="dk1"/>
                </a:solidFill>
                <a:latin typeface="Rambla"/>
                <a:ea typeface="Rambla"/>
                <a:cs typeface="Rambla"/>
                <a:sym typeface="Rambla"/>
              </a:rPr>
              <a:t> FacturasDePerez </a:t>
            </a:r>
            <a:r>
              <a:rPr b="0" i="0" lang="en-US" sz="2400" u="none" cap="none" strike="noStrike">
                <a:solidFill>
                  <a:schemeClr val="dk1"/>
                </a:solidFill>
                <a:latin typeface="Rambla"/>
                <a:ea typeface="Rambla"/>
                <a:cs typeface="Rambla"/>
                <a:sym typeface="Rambla"/>
              </a:rPr>
              <a:t>|x| Renglon</a:t>
            </a:r>
            <a:endParaRPr b="0" i="0" sz="1400" u="none" cap="none" strike="noStrike">
              <a:solidFill>
                <a:schemeClr val="dk1"/>
              </a:solidFill>
              <a:latin typeface="Arial"/>
              <a:ea typeface="Arial"/>
              <a:cs typeface="Arial"/>
              <a:sym typeface="Arial"/>
            </a:endParaRPr>
          </a:p>
          <a:p>
            <a:pPr indent="-204786" lvl="0" marL="204786" marR="0" rtl="0" algn="l">
              <a:lnSpc>
                <a:spcPct val="100000"/>
              </a:lnSpc>
              <a:spcBef>
                <a:spcPts val="0"/>
              </a:spcBef>
              <a:spcAft>
                <a:spcPts val="0"/>
              </a:spcAft>
              <a:buClr>
                <a:schemeClr val="dk1"/>
              </a:buClr>
              <a:buSzPts val="11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rPr b="0" i="0" lang="en-US" sz="2700" u="none" cap="none" strike="noStrike">
                <a:solidFill>
                  <a:srgbClr val="000000"/>
                </a:solidFill>
                <a:latin typeface="Rambla"/>
                <a:ea typeface="Rambla"/>
                <a:cs typeface="Rambla"/>
                <a:sym typeface="Rambla"/>
              </a:rPr>
              <a:t>Renglones⇐Renglones-RenglonesDePerez</a:t>
            </a:r>
            <a:endParaRPr b="0" i="0" sz="27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rPr b="0" i="0" lang="en-US" sz="2700" u="none" cap="none" strike="noStrike">
                <a:solidFill>
                  <a:srgbClr val="000000"/>
                </a:solidFill>
                <a:latin typeface="Rambla"/>
                <a:ea typeface="Rambla"/>
                <a:cs typeface="Rambla"/>
                <a:sym typeface="Rambla"/>
              </a:rPr>
              <a:t>Facturas</a:t>
            </a:r>
            <a:r>
              <a:rPr b="0" i="0" lang="en-US" sz="2700" u="none" cap="none" strike="noStrike">
                <a:solidFill>
                  <a:schemeClr val="dk1"/>
                </a:solidFill>
                <a:latin typeface="Rambla"/>
                <a:ea typeface="Rambla"/>
                <a:cs typeface="Rambla"/>
                <a:sym typeface="Rambla"/>
              </a:rPr>
              <a:t>⇐Facturas-FacturasDePerez</a:t>
            </a:r>
            <a:endParaRPr b="0" i="0" sz="27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Rambla"/>
              <a:buNone/>
            </a:pPr>
            <a:r>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83" name="Shape 283"/>
        <p:cNvGrpSpPr/>
        <p:nvPr/>
      </p:nvGrpSpPr>
      <p:grpSpPr>
        <a:xfrm>
          <a:off x="0" y="0"/>
          <a:ext cx="0" cy="0"/>
          <a:chOff x="0" y="0"/>
          <a:chExt cx="0" cy="0"/>
        </a:xfrm>
      </p:grpSpPr>
      <p:sp>
        <p:nvSpPr>
          <p:cNvPr id="284" name="Google Shape;284;g9e2b53c463_0_0"/>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Ejemplo práctico</a:t>
            </a:r>
            <a:endParaRPr b="0" i="0" sz="1400" u="none" cap="none" strike="noStrike">
              <a:solidFill>
                <a:srgbClr val="000000"/>
              </a:solidFill>
              <a:latin typeface="Arial"/>
              <a:ea typeface="Arial"/>
              <a:cs typeface="Arial"/>
              <a:sym typeface="Arial"/>
            </a:endParaRPr>
          </a:p>
        </p:txBody>
      </p:sp>
      <p:sp>
        <p:nvSpPr>
          <p:cNvPr id="285" name="Google Shape;285;g9e2b53c463_0_0"/>
          <p:cNvSpPr/>
          <p:nvPr/>
        </p:nvSpPr>
        <p:spPr>
          <a:xfrm>
            <a:off x="2749550" y="3471862"/>
            <a:ext cx="10701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86" name="Google Shape;286;g9e2b53c463_0_0"/>
          <p:cNvSpPr/>
          <p:nvPr/>
        </p:nvSpPr>
        <p:spPr>
          <a:xfrm>
            <a:off x="5214937" y="3482975"/>
            <a:ext cx="9366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87" name="Google Shape;287;g9e2b53c463_0_0"/>
          <p:cNvSpPr txBox="1"/>
          <p:nvPr/>
        </p:nvSpPr>
        <p:spPr>
          <a:xfrm>
            <a:off x="1221062" y="1291250"/>
            <a:ext cx="83058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400"/>
              <a:buFont typeface="Arial"/>
              <a:buNone/>
            </a:pPr>
            <a:r>
              <a:t/>
            </a:r>
            <a:endParaRPr b="1" i="0" sz="24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PRODUCTO</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idproducto</a:t>
            </a:r>
            <a:r>
              <a:rPr b="0" i="0" lang="en-US" sz="1800" u="none" cap="none" strike="noStrike">
                <a:solidFill>
                  <a:schemeClr val="dk1"/>
                </a:solidFill>
                <a:latin typeface="Rambla"/>
                <a:ea typeface="Rambla"/>
                <a:cs typeface="Rambla"/>
                <a:sym typeface="Rambla"/>
              </a:rPr>
              <a:t>, nombre, códigobarra, preciocosto)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CLIENTE</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idcliente</a:t>
            </a:r>
            <a:r>
              <a:rPr b="0" i="0" lang="en-US" sz="1800" u="none" cap="none" strike="noStrike">
                <a:solidFill>
                  <a:schemeClr val="dk1"/>
                </a:solidFill>
                <a:latin typeface="Rambla"/>
                <a:ea typeface="Rambla"/>
                <a:cs typeface="Rambla"/>
                <a:sym typeface="Rambla"/>
              </a:rPr>
              <a:t>, nombre, dirección, idlocalidad(FK))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FACTURA</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a:t>
            </a:r>
            <a:r>
              <a:rPr b="0" i="0" lang="en-US" sz="1800" u="none" cap="none" strike="noStrike">
                <a:solidFill>
                  <a:schemeClr val="dk1"/>
                </a:solidFill>
                <a:latin typeface="Rambla"/>
                <a:ea typeface="Rambla"/>
                <a:cs typeface="Rambla"/>
                <a:sym typeface="Rambla"/>
              </a:rPr>
              <a:t>, fecha, montofactura, idcliente(FK))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RENGLON</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idfactura, renglon</a:t>
            </a:r>
            <a:r>
              <a:rPr b="0" i="0" lang="en-US" sz="1800" u="none" cap="none" strike="noStrike">
                <a:solidFill>
                  <a:schemeClr val="dk1"/>
                </a:solidFill>
                <a:latin typeface="Rambla"/>
                <a:ea typeface="Rambla"/>
                <a:cs typeface="Rambla"/>
                <a:sym typeface="Rambla"/>
              </a:rPr>
              <a:t>, idproducto(FK), precioventa, cantidad)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rPr b="1" i="0" lang="en-US" sz="1800" u="none" cap="none" strike="noStrike">
                <a:solidFill>
                  <a:schemeClr val="dk1"/>
                </a:solidFill>
                <a:latin typeface="Rambla"/>
                <a:ea typeface="Rambla"/>
                <a:cs typeface="Rambla"/>
                <a:sym typeface="Rambla"/>
              </a:rPr>
              <a:t>LOCALIDAD</a:t>
            </a:r>
            <a:r>
              <a:rPr b="0" i="0" lang="en-US" sz="1800" u="none" cap="none" strike="noStrike">
                <a:solidFill>
                  <a:schemeClr val="dk1"/>
                </a:solidFill>
                <a:latin typeface="Rambla"/>
                <a:ea typeface="Rambla"/>
                <a:cs typeface="Rambla"/>
                <a:sym typeface="Rambla"/>
              </a:rPr>
              <a:t> = (</a:t>
            </a:r>
            <a:r>
              <a:rPr b="0" i="0" lang="en-US" sz="1800" u="sng" cap="none" strike="noStrike">
                <a:solidFill>
                  <a:schemeClr val="dk1"/>
                </a:solidFill>
                <a:latin typeface="Rambla"/>
                <a:ea typeface="Rambla"/>
                <a:cs typeface="Rambla"/>
                <a:sym typeface="Rambla"/>
              </a:rPr>
              <a:t>idlocalidad</a:t>
            </a:r>
            <a:r>
              <a:rPr b="0" i="0" lang="en-US" sz="1800" u="none" cap="none" strike="noStrike">
                <a:solidFill>
                  <a:schemeClr val="dk1"/>
                </a:solidFill>
                <a:latin typeface="Rambla"/>
                <a:ea typeface="Rambla"/>
                <a:cs typeface="Rambla"/>
                <a:sym typeface="Rambla"/>
              </a:rPr>
              <a:t>, descripcion)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Rambla"/>
              <a:buNone/>
            </a:pPr>
            <a:r>
              <a:t/>
            </a:r>
            <a:endParaRPr b="1"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2800"/>
              <a:buFont typeface="Arial"/>
              <a:buNone/>
            </a:pPr>
            <a:r>
              <a:t/>
            </a:r>
            <a:endParaRPr b="0"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
        <p:nvSpPr>
          <p:cNvPr id="288" name="Google Shape;288;g9e2b53c463_0_0"/>
          <p:cNvSpPr txBox="1"/>
          <p:nvPr/>
        </p:nvSpPr>
        <p:spPr>
          <a:xfrm>
            <a:off x="375625" y="3853725"/>
            <a:ext cx="11520600" cy="6618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700"/>
              <a:buFont typeface="Noto Sans Symbols"/>
              <a:buChar char="▶"/>
            </a:pPr>
            <a:r>
              <a:rPr b="0" i="0" lang="en-US" sz="2700" u="none" cap="none" strike="noStrike">
                <a:solidFill>
                  <a:srgbClr val="000000"/>
                </a:solidFill>
                <a:latin typeface="Rambla"/>
                <a:ea typeface="Rambla"/>
                <a:cs typeface="Rambla"/>
                <a:sym typeface="Rambla"/>
              </a:rPr>
              <a:t>Nombre y id de clientes que compraron todos los productos</a:t>
            </a:r>
            <a:endParaRPr b="0" i="0" sz="27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chemeClr val="dk1"/>
              </a:solidFill>
              <a:latin typeface="Arial"/>
              <a:ea typeface="Arial"/>
              <a:cs typeface="Arial"/>
              <a:sym typeface="Arial"/>
            </a:endParaRPr>
          </a:p>
          <a:p>
            <a:pPr indent="-204786" lvl="0" marL="204786" marR="0" rtl="0" algn="l">
              <a:lnSpc>
                <a:spcPct val="100000"/>
              </a:lnSpc>
              <a:spcBef>
                <a:spcPts val="0"/>
              </a:spcBef>
              <a:spcAft>
                <a:spcPts val="0"/>
              </a:spcAft>
              <a:buClr>
                <a:schemeClr val="dk1"/>
              </a:buClr>
              <a:buSzPts val="11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t/>
            </a:r>
            <a:endParaRPr b="0" i="0" sz="27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Rambla"/>
              <a:buNone/>
            </a:pPr>
            <a:r>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
        <p:nvSpPr>
          <p:cNvPr id="289" name="Google Shape;289;g9e2b53c463_0_0"/>
          <p:cNvSpPr txBox="1"/>
          <p:nvPr/>
        </p:nvSpPr>
        <p:spPr>
          <a:xfrm>
            <a:off x="375625" y="4515513"/>
            <a:ext cx="11520600" cy="1014300"/>
          </a:xfrm>
          <a:prstGeom prst="rect">
            <a:avLst/>
          </a:prstGeom>
          <a:noFill/>
          <a:ln>
            <a:noFill/>
          </a:ln>
        </p:spPr>
        <p:txBody>
          <a:bodyPr anchorCtr="0" anchor="t" bIns="45000" lIns="90000" spcFirstLastPara="1" rIns="90000" wrap="square" tIns="45000">
            <a:noAutofit/>
          </a:bodyPr>
          <a:lstStyle/>
          <a:p>
            <a:pPr indent="-204786" lvl="0" marL="204786"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Noto Sans Symbols"/>
                <a:ea typeface="Noto Sans Symbols"/>
                <a:cs typeface="Noto Sans Symbols"/>
                <a:sym typeface="Noto Sans Symbols"/>
              </a:rPr>
              <a:t>(π</a:t>
            </a:r>
            <a:r>
              <a:rPr b="0" baseline="-25000" i="0" lang="en-US" sz="2800" u="none" cap="none" strike="noStrike">
                <a:solidFill>
                  <a:schemeClr val="dk1"/>
                </a:solidFill>
                <a:latin typeface="Rambla"/>
                <a:ea typeface="Rambla"/>
                <a:cs typeface="Rambla"/>
                <a:sym typeface="Rambla"/>
              </a:rPr>
              <a:t> idcliente, nombre, idProducto </a:t>
            </a:r>
            <a:r>
              <a:rPr b="0" i="0" lang="en-US" sz="2400" u="none" cap="none" strike="noStrike">
                <a:solidFill>
                  <a:schemeClr val="dk1"/>
                </a:solidFill>
                <a:latin typeface="Rambla"/>
                <a:ea typeface="Rambla"/>
                <a:cs typeface="Rambla"/>
                <a:sym typeface="Rambla"/>
              </a:rPr>
              <a:t>(Cliente |x|Factura |x| Renglon )) %  </a:t>
            </a:r>
            <a:r>
              <a:rPr b="0" i="0" lang="en-US" sz="2800" u="none" cap="none" strike="noStrike">
                <a:solidFill>
                  <a:schemeClr val="dk1"/>
                </a:solidFill>
                <a:latin typeface="Noto Sans Symbols"/>
                <a:ea typeface="Noto Sans Symbols"/>
                <a:cs typeface="Noto Sans Symbols"/>
                <a:sym typeface="Noto Sans Symbols"/>
              </a:rPr>
              <a:t>π</a:t>
            </a:r>
            <a:r>
              <a:rPr b="0" i="0" lang="en-US" sz="2800" u="none" cap="none" strike="noStrike">
                <a:solidFill>
                  <a:schemeClr val="dk1"/>
                </a:solidFill>
                <a:latin typeface="Rambla"/>
                <a:ea typeface="Rambla"/>
                <a:cs typeface="Rambla"/>
                <a:sym typeface="Rambla"/>
              </a:rPr>
              <a:t> </a:t>
            </a:r>
            <a:r>
              <a:rPr b="0" baseline="-25000" i="0" lang="en-US" sz="2800" u="none" cap="none" strike="noStrike">
                <a:solidFill>
                  <a:schemeClr val="dk1"/>
                </a:solidFill>
                <a:latin typeface="Rambla"/>
                <a:ea typeface="Rambla"/>
                <a:cs typeface="Rambla"/>
                <a:sym typeface="Rambla"/>
              </a:rPr>
              <a:t>idproducto </a:t>
            </a:r>
            <a:r>
              <a:rPr b="0" i="0" lang="en-US" sz="2400" u="none" cap="none" strike="noStrike">
                <a:solidFill>
                  <a:schemeClr val="dk1"/>
                </a:solidFill>
                <a:latin typeface="Rambla"/>
                <a:ea typeface="Rambla"/>
                <a:cs typeface="Rambla"/>
                <a:sym typeface="Rambla"/>
              </a:rPr>
              <a:t>(Producto)) </a:t>
            </a:r>
            <a:endParaRPr b="0" i="0" sz="1400" u="none" cap="none" strike="noStrike">
              <a:solidFill>
                <a:schemeClr val="dk1"/>
              </a:solidFill>
              <a:latin typeface="Arial"/>
              <a:ea typeface="Arial"/>
              <a:cs typeface="Arial"/>
              <a:sym typeface="Arial"/>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chemeClr val="dk1"/>
              </a:solidFill>
              <a:latin typeface="Arial"/>
              <a:ea typeface="Arial"/>
              <a:cs typeface="Arial"/>
              <a:sym typeface="Arial"/>
            </a:endParaRPr>
          </a:p>
          <a:p>
            <a:pPr indent="-204786" lvl="0" marL="204786" marR="0" rtl="0" algn="l">
              <a:lnSpc>
                <a:spcPct val="100000"/>
              </a:lnSpc>
              <a:spcBef>
                <a:spcPts val="0"/>
              </a:spcBef>
              <a:spcAft>
                <a:spcPts val="0"/>
              </a:spcAft>
              <a:buClr>
                <a:schemeClr val="dk1"/>
              </a:buClr>
              <a:buSzPts val="11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t/>
            </a:r>
            <a:endParaRPr b="0" i="0" sz="27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700"/>
              <a:buFont typeface="Arial"/>
              <a:buNone/>
            </a:pPr>
            <a:r>
              <a:t/>
            </a:r>
            <a:endParaRPr b="0" i="0" sz="2400" u="none" cap="none" strike="noStrike">
              <a:solidFill>
                <a:schemeClr val="dk1"/>
              </a:solidFill>
              <a:latin typeface="Rambla"/>
              <a:ea typeface="Rambla"/>
              <a:cs typeface="Rambla"/>
              <a:sym typeface="Rambla"/>
            </a:endParaRPr>
          </a:p>
          <a:p>
            <a:pPr indent="-204786" lvl="0" marL="204786" marR="0" rtl="0" algn="l">
              <a:lnSpc>
                <a:spcPct val="100000"/>
              </a:lnSpc>
              <a:spcBef>
                <a:spcPts val="0"/>
              </a:spcBef>
              <a:spcAft>
                <a:spcPts val="0"/>
              </a:spcAft>
              <a:buClr>
                <a:srgbClr val="000000"/>
              </a:buClr>
              <a:buSzPts val="2400"/>
              <a:buFont typeface="Rambla"/>
              <a:buNone/>
            </a:pPr>
            <a:r>
              <a:t/>
            </a:r>
            <a:endParaRPr b="0" i="0" sz="1400" u="none" cap="none" strike="noStrike">
              <a:solidFill>
                <a:srgbClr val="000000"/>
              </a:solidFill>
              <a:latin typeface="Arial"/>
              <a:ea typeface="Arial"/>
              <a:cs typeface="Arial"/>
              <a:sym typeface="Arial"/>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204786" lvl="0" marL="204786" marR="0" rtl="0" algn="l">
              <a:lnSpc>
                <a:spcPct val="100000"/>
              </a:lnSpc>
              <a:spcBef>
                <a:spcPts val="0"/>
              </a:spcBef>
              <a:spcAft>
                <a:spcPts val="0"/>
              </a:spcAft>
              <a:buClr>
                <a:srgbClr val="FFFFFF"/>
              </a:buClr>
              <a:buSzPts val="2400"/>
              <a:buFont typeface="Arial"/>
              <a:buNone/>
            </a:pPr>
            <a:r>
              <a:t/>
            </a:r>
            <a:endParaRPr b="0" i="0" sz="24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2400"/>
              <a:buFont typeface="Arial"/>
              <a:buNone/>
            </a:pPr>
            <a:r>
              <a:t/>
            </a:r>
            <a:endParaRPr b="0" i="0" sz="2400" u="none" cap="none" strike="noStrike">
              <a:solidFill>
                <a:srgbClr val="000000"/>
              </a:solidFill>
              <a:latin typeface="Rambla"/>
              <a:ea typeface="Rambla"/>
              <a:cs typeface="Rambla"/>
              <a:sym typeface="Rambl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296" name="Shape 296"/>
        <p:cNvGrpSpPr/>
        <p:nvPr/>
      </p:nvGrpSpPr>
      <p:grpSpPr>
        <a:xfrm>
          <a:off x="0" y="0"/>
          <a:ext cx="0" cy="0"/>
          <a:chOff x="0" y="0"/>
          <a:chExt cx="0" cy="0"/>
        </a:xfrm>
      </p:grpSpPr>
      <p:sp>
        <p:nvSpPr>
          <p:cNvPr id="297" name="Google Shape;297;g3844b94766a_0_0"/>
          <p:cNvSpPr txBox="1"/>
          <p:nvPr/>
        </p:nvSpPr>
        <p:spPr>
          <a:xfrm>
            <a:off x="1508125" y="522287"/>
            <a:ext cx="10852200" cy="1014300"/>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Errores típicos</a:t>
            </a:r>
            <a:endParaRPr b="0" i="0" sz="1400" u="none" cap="none" strike="noStrike">
              <a:solidFill>
                <a:srgbClr val="000000"/>
              </a:solidFill>
              <a:latin typeface="Arial"/>
              <a:ea typeface="Arial"/>
              <a:cs typeface="Arial"/>
              <a:sym typeface="Arial"/>
            </a:endParaRPr>
          </a:p>
        </p:txBody>
      </p:sp>
      <p:sp>
        <p:nvSpPr>
          <p:cNvPr id="298" name="Google Shape;298;g3844b94766a_0_0"/>
          <p:cNvSpPr/>
          <p:nvPr/>
        </p:nvSpPr>
        <p:spPr>
          <a:xfrm>
            <a:off x="2749550" y="3471862"/>
            <a:ext cx="10701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299" name="Google Shape;299;g3844b94766a_0_0"/>
          <p:cNvSpPr/>
          <p:nvPr/>
        </p:nvSpPr>
        <p:spPr>
          <a:xfrm>
            <a:off x="5214937" y="3482975"/>
            <a:ext cx="936600" cy="516000"/>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300" name="Google Shape;300;g3844b94766a_0_0"/>
          <p:cNvSpPr txBox="1"/>
          <p:nvPr/>
        </p:nvSpPr>
        <p:spPr>
          <a:xfrm>
            <a:off x="900646" y="1260025"/>
            <a:ext cx="11270700" cy="24687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800"/>
              <a:buFont typeface="Rambla"/>
              <a:buNone/>
            </a:pPr>
            <a:r>
              <a:t/>
            </a:r>
            <a:endParaRPr b="1" i="0" sz="24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Utilizar el producto natural cuando no hay atributos en común o cuando existen atributos con el mismo nombre que no corresponde unir.</a:t>
            </a:r>
            <a:endParaRPr b="1" i="0" sz="25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Utilizar producto cartesiano sin selección.</a:t>
            </a:r>
            <a:endParaRPr b="1" i="0" sz="25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Realizar unión, intersección y diferencia con esquemas que no sean unión compatibles (equivalentes).</a:t>
            </a:r>
            <a:endParaRPr b="1" i="0" sz="25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Realizar una división entre dos tablas Tabla1 y Tabla2 en donde el esquema de Tabla 2 no esté contenido en Tabla1.</a:t>
            </a:r>
            <a:endParaRPr b="1" i="0" sz="25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No respetar la integridad referencial, dejando inconsistente la BD al realizar una eliminación.</a:t>
            </a:r>
            <a:endParaRPr b="1" i="0" sz="2500" u="none" cap="none" strike="noStrike">
              <a:solidFill>
                <a:srgbClr val="000000"/>
              </a:solidFill>
              <a:latin typeface="Rambla"/>
              <a:ea typeface="Rambla"/>
              <a:cs typeface="Rambla"/>
              <a:sym typeface="Rambla"/>
            </a:endParaRPr>
          </a:p>
          <a:p>
            <a:pPr indent="-387350" lvl="0" marL="457200" marR="0" rtl="0" algn="l">
              <a:lnSpc>
                <a:spcPct val="100000"/>
              </a:lnSpc>
              <a:spcBef>
                <a:spcPts val="0"/>
              </a:spcBef>
              <a:spcAft>
                <a:spcPts val="0"/>
              </a:spcAft>
              <a:buClr>
                <a:srgbClr val="000000"/>
              </a:buClr>
              <a:buSzPts val="2500"/>
              <a:buFont typeface="Rambla"/>
              <a:buChar char="●"/>
            </a:pPr>
            <a:r>
              <a:rPr b="1" i="0" lang="en-US" sz="2500" u="none" cap="none" strike="noStrike">
                <a:solidFill>
                  <a:srgbClr val="000000"/>
                </a:solidFill>
                <a:latin typeface="Rambla"/>
                <a:ea typeface="Rambla"/>
                <a:cs typeface="Rambla"/>
                <a:sym typeface="Rambla"/>
              </a:rPr>
              <a:t>Realizar cruces innecesarios con tablas que no se necesitan para resolver la consulta.</a:t>
            </a:r>
            <a:endParaRPr b="1" i="0" sz="2500" u="none" cap="none" strike="noStrike">
              <a:solidFill>
                <a:srgbClr val="000000"/>
              </a:solidFill>
              <a:latin typeface="Rambla"/>
              <a:ea typeface="Rambla"/>
              <a:cs typeface="Rambla"/>
              <a:sym typeface="Rambla"/>
            </a:endParaRPr>
          </a:p>
          <a:p>
            <a:pPr indent="0" lvl="0" marL="0" marR="0" rtl="0" algn="l">
              <a:lnSpc>
                <a:spcPct val="100000"/>
              </a:lnSpc>
              <a:spcBef>
                <a:spcPts val="0"/>
              </a:spcBef>
              <a:spcAft>
                <a:spcPts val="0"/>
              </a:spcAft>
              <a:buClr>
                <a:schemeClr val="dk1"/>
              </a:buClr>
              <a:buSzPts val="2800"/>
              <a:buFont typeface="Arial"/>
              <a:buNone/>
            </a:pPr>
            <a:r>
              <a:t/>
            </a:r>
            <a:endParaRPr b="0" i="0" sz="1800" u="none" cap="none" strike="noStrike">
              <a:solidFill>
                <a:schemeClr val="dk1"/>
              </a:solidFill>
              <a:latin typeface="Rambla"/>
              <a:ea typeface="Rambla"/>
              <a:cs typeface="Rambla"/>
              <a:sym typeface="Rambla"/>
            </a:endParaRPr>
          </a:p>
          <a:p>
            <a:pPr indent="0" lvl="0" marL="0" marR="0" rtl="0" algn="l">
              <a:lnSpc>
                <a:spcPct val="100000"/>
              </a:lnSpc>
              <a:spcBef>
                <a:spcPts val="0"/>
              </a:spcBef>
              <a:spcAft>
                <a:spcPts val="0"/>
              </a:spcAft>
              <a:buClr>
                <a:srgbClr val="000000"/>
              </a:buClr>
              <a:buSzPts val="1800"/>
              <a:buFont typeface="Rambla"/>
              <a:buNone/>
            </a:pPr>
            <a:r>
              <a:t/>
            </a:r>
            <a:endParaRPr b="1" i="0" sz="1800" u="none" cap="none" strike="noStrike">
              <a:solidFill>
                <a:srgbClr val="000000"/>
              </a:solidFill>
              <a:latin typeface="Rambla"/>
              <a:ea typeface="Rambla"/>
              <a:cs typeface="Rambla"/>
              <a:sym typeface="Rambla"/>
            </a:endParaRPr>
          </a:p>
          <a:p>
            <a:pPr indent="0" lvl="0" marL="0" marR="0" rtl="0" algn="l">
              <a:lnSpc>
                <a:spcPct val="93000"/>
              </a:lnSpc>
              <a:spcBef>
                <a:spcPts val="0"/>
              </a:spcBef>
              <a:spcAft>
                <a:spcPts val="0"/>
              </a:spcAft>
              <a:buClr>
                <a:srgbClr val="000000"/>
              </a:buClr>
              <a:buSzPts val="1800"/>
              <a:buFont typeface="Arial"/>
              <a:buNone/>
            </a:pPr>
            <a:r>
              <a:t/>
            </a:r>
            <a:endParaRPr b="0" i="0" sz="1800" u="none" cap="none" strike="noStrike">
              <a:solidFill>
                <a:srgbClr val="000000"/>
              </a:solidFill>
              <a:latin typeface="Rambla"/>
              <a:ea typeface="Rambla"/>
              <a:cs typeface="Rambla"/>
              <a:sym typeface="Rambl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EE9F8"/>
            </a:gs>
          </a:gsLst>
          <a:path path="circle">
            <a:fillToRect b="50%" l="50%" r="50%" t="50%"/>
          </a:path>
          <a:tileRect/>
        </a:gradFill>
      </p:bgPr>
    </p:bg>
    <p:spTree>
      <p:nvGrpSpPr>
        <p:cNvPr id="307" name="Shape 307"/>
        <p:cNvGrpSpPr/>
        <p:nvPr/>
      </p:nvGrpSpPr>
      <p:grpSpPr>
        <a:xfrm>
          <a:off x="0" y="0"/>
          <a:ext cx="0" cy="0"/>
          <a:chOff x="0" y="0"/>
          <a:chExt cx="0" cy="0"/>
        </a:xfrm>
      </p:grpSpPr>
      <p:sp>
        <p:nvSpPr>
          <p:cNvPr id="308" name="Google Shape;308;p18"/>
          <p:cNvSpPr txBox="1"/>
          <p:nvPr/>
        </p:nvSpPr>
        <p:spPr>
          <a:xfrm>
            <a:off x="2879725" y="2586037"/>
            <a:ext cx="10852150" cy="1014412"/>
          </a:xfrm>
          <a:prstGeom prst="rect">
            <a:avLst/>
          </a:prstGeom>
          <a:noFill/>
          <a:ln>
            <a:noFill/>
          </a:ln>
        </p:spPr>
        <p:txBody>
          <a:bodyPr anchorCtr="0" anchor="t" bIns="54000" lIns="108000" spcFirstLastPara="1" rIns="108000" wrap="square" tIns="54000">
            <a:noAutofit/>
          </a:bodyPr>
          <a:lstStyle/>
          <a:p>
            <a:pPr indent="0" lvl="0" marL="0" marR="0" rtl="0" algn="l">
              <a:lnSpc>
                <a:spcPct val="100000"/>
              </a:lnSpc>
              <a:spcBef>
                <a:spcPts val="0"/>
              </a:spcBef>
              <a:spcAft>
                <a:spcPts val="0"/>
              </a:spcAft>
              <a:buClr>
                <a:srgbClr val="333333"/>
              </a:buClr>
              <a:buSzPts val="4400"/>
              <a:buFont typeface="Questrial"/>
              <a:buNone/>
            </a:pPr>
            <a:r>
              <a:rPr b="0" i="0" lang="en-US" sz="4400" u="none" cap="none" strike="noStrike">
                <a:solidFill>
                  <a:srgbClr val="333333"/>
                </a:solidFill>
                <a:latin typeface="Questrial"/>
                <a:ea typeface="Questrial"/>
                <a:cs typeface="Questrial"/>
                <a:sym typeface="Questrial"/>
              </a:rPr>
              <a:t>        ¿Consultas?</a:t>
            </a:r>
            <a:endParaRPr b="0" i="0" sz="1400" u="none" cap="none" strike="noStrike">
              <a:solidFill>
                <a:srgbClr val="000000"/>
              </a:solidFill>
              <a:latin typeface="Arial"/>
              <a:ea typeface="Arial"/>
              <a:cs typeface="Arial"/>
              <a:sym typeface="Arial"/>
            </a:endParaRPr>
          </a:p>
        </p:txBody>
      </p:sp>
      <p:sp>
        <p:nvSpPr>
          <p:cNvPr id="309" name="Google Shape;309;p18"/>
          <p:cNvSpPr/>
          <p:nvPr/>
        </p:nvSpPr>
        <p:spPr>
          <a:xfrm>
            <a:off x="2749550" y="3471862"/>
            <a:ext cx="106997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310" name="Google Shape;310;p18"/>
          <p:cNvSpPr/>
          <p:nvPr/>
        </p:nvSpPr>
        <p:spPr>
          <a:xfrm>
            <a:off x="5214937" y="3482975"/>
            <a:ext cx="936625" cy="515937"/>
          </a:xfrm>
          <a:prstGeom prst="rect">
            <a:avLst/>
          </a:prstGeom>
          <a:noFill/>
          <a:ln>
            <a:noFill/>
          </a:ln>
        </p:spPr>
        <p:txBody>
          <a:bodyPr anchorCtr="0" anchor="ctr" bIns="45700" lIns="91425" spcFirstLastPara="1" rIns="91425" wrap="square" tIns="45700">
            <a:noAutofit/>
          </a:bodyPr>
          <a:lstStyle/>
          <a:p>
            <a:pPr indent="0" lvl="0" marL="0" marR="0" rtl="0" algn="l">
              <a:lnSpc>
                <a:spcPct val="93000"/>
              </a:lnSpc>
              <a:spcBef>
                <a:spcPts val="0"/>
              </a:spcBef>
              <a:spcAft>
                <a:spcPts val="0"/>
              </a:spcAft>
              <a:buClr>
                <a:srgbClr val="000000"/>
              </a:buClr>
              <a:buSzPts val="2800"/>
              <a:buFont typeface="Arial"/>
              <a:buNone/>
            </a:pPr>
            <a:r>
              <a:t/>
            </a:r>
            <a:endParaRPr b="0" i="0" sz="28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